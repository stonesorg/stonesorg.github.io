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a65889cf2543bd" /><Relationship Type="http://schemas.openxmlformats.org/officeDocument/2006/relationships/extended-properties" Target="/docProps/app.xml" Id="Re5b8a7c8632a4d6c" /><Relationship Type="http://schemas.openxmlformats.org/officeDocument/2006/relationships/officeDocument" Target="/ppt/presentation.xml" Id="R34199bfa48d748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1081f64d1e4f9d"/>
  </p:sldMasterIdLst>
  <p:notesMasterIdLst>
    <p:notesMasterId xmlns:r="http://schemas.openxmlformats.org/officeDocument/2006/relationships" r:id="R11a46de510ff4b47"/>
  </p:notesMasterIdLst>
  <p:sldIdLst>
    <p:sldId xmlns:r="http://schemas.openxmlformats.org/officeDocument/2006/relationships" id="256" r:id="Rcde2e42154294070"/>
    <p:sldId xmlns:r="http://schemas.openxmlformats.org/officeDocument/2006/relationships" id="257" r:id="R3ffbf4db5b2345e5"/>
    <p:sldId xmlns:r="http://schemas.openxmlformats.org/officeDocument/2006/relationships" id="258" r:id="R4a42f2b4ce014188"/>
    <p:sldId xmlns:r="http://schemas.openxmlformats.org/officeDocument/2006/relationships" id="259" r:id="R927af767ff7b4f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f6895c0aaa4246" /><Relationship Type="http://schemas.openxmlformats.org/officeDocument/2006/relationships/slideMaster" Target="/ppt/slideMasters/slideMaster1.xml" Id="Rd51081f64d1e4f9d" /><Relationship Type="http://schemas.openxmlformats.org/officeDocument/2006/relationships/notesMaster" Target="/ppt/notesMasters/notesMaster1.xml" Id="R11a46de510ff4b47" /><Relationship Type="http://schemas.openxmlformats.org/officeDocument/2006/relationships/presProps" Target="/ppt/presProps.xml" Id="R4b1cacfe5743404a" /><Relationship Type="http://schemas.openxmlformats.org/officeDocument/2006/relationships/tableStyles" Target="/ppt/tableStyles.xml" Id="R54d70fa0e95d46f7" /><Relationship Type="http://schemas.openxmlformats.org/officeDocument/2006/relationships/slide" Target="/ppt/slides/slide1.xml" Id="Rcde2e42154294070" /><Relationship Type="http://schemas.openxmlformats.org/officeDocument/2006/relationships/slide" Target="/ppt/slides/slide2.xml" Id="R3ffbf4db5b2345e5" /><Relationship Type="http://schemas.openxmlformats.org/officeDocument/2006/relationships/slide" Target="/ppt/slides/slide3.xml" Id="R4a42f2b4ce014188" /><Relationship Type="http://schemas.openxmlformats.org/officeDocument/2006/relationships/slide" Target="/ppt/slides/slide4.xml" Id="R927af767ff7b4f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20fec3ed9844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eed147ff204cd7" /><Relationship Type="http://schemas.openxmlformats.org/officeDocument/2006/relationships/notesMaster" Target="/ppt/notesMasters/notesMaster1.xml" Id="Rbf475360557a47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cbf15fe36e4536" /><Relationship Type="http://schemas.openxmlformats.org/officeDocument/2006/relationships/notesMaster" Target="/ppt/notesMasters/notesMaster1.xml" Id="R69f6945654fb41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19961ca7d14acf" /><Relationship Type="http://schemas.openxmlformats.org/officeDocument/2006/relationships/notesMaster" Target="/ppt/notesMasters/notesMaster1.xml" Id="Rd483f2115e5942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53bba844d34a6a" /><Relationship Type="http://schemas.openxmlformats.org/officeDocument/2006/relationships/notesMaster" Target="/ppt/notesMasters/notesMaster1.xml" Id="R8e5043fc60094c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Customer interview, Dana, 2026-09-02.</a:t>
            </a:r>
          </a:p>
          <a:p xmlns:a="http://schemas.openxmlformats.org/drawingml/2006/main">
            <a:r>
              <a:t>Representative tutor portrait generated for this project: assets/images/maya-patel.png.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Customer interview, Dana, 2026-09-02.</a:t>
            </a:r>
          </a:p>
          <a:p xmlns:a="http://schemas.openxmlformats.org/drawingml/2006/main">
            <a:r>
              <a:t>Representative tutor portrait generated for this project: assets/images/sofia-ramirez.png.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prototype screenshot: tmp/presentation/abc-tutoring-site.png, captured 2026-09-02.</a:t>
            </a:r>
          </a:p>
          <a:p xmlns:a="http://schemas.openxmlformats.org/drawingml/2006/main">
            <a:r>
              <a:t>Customer interview, Dana, 2026-09-02.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PostHog JavaScript web docs: https://posthog.com/docs/libraries/js</a:t>
            </a:r>
          </a:p>
          <a:p xmlns:a="http://schemas.openxmlformats.org/drawingml/2006/main">
            <a:r>
              <a:t>PostHog capture-events docs: https://posthog.com/docs/product-analytics/capture-events</a:t>
            </a:r>
          </a:p>
          <a:p xmlns:a="http://schemas.openxmlformats.org/drawingml/2006/main">
            <a:r>
              <a:t>Local traffic evidence: output/traffic-simulation-summary.json, generated 2026-09-03.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17f5885a0143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de97f0ad0f49c8" /><Relationship Type="http://schemas.openxmlformats.org/officeDocument/2006/relationships/slideLayout" Target="/ppt/slideLayouts/slideLayout1.xml" Id="Rb755ce9e3a8549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55ce9e3a8549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a0202f9a554dac" /><Relationship Type="http://schemas.openxmlformats.org/officeDocument/2006/relationships/image" Target="/ppt/media/image.png" Id="Rdc971009d8404b5b" /><Relationship Type="http://schemas.openxmlformats.org/officeDocument/2006/relationships/notesSlide" Target="/ppt/notesSlides/notesSlide1.xml" Id="Ree9fc534d6464c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3153139854abb" /><Relationship Type="http://schemas.openxmlformats.org/officeDocument/2006/relationships/image" Target="/ppt/media/image2.png" Id="Rd62c6c2c65ca49a6" /><Relationship Type="http://schemas.openxmlformats.org/officeDocument/2006/relationships/notesSlide" Target="/ppt/notesSlides/notesSlide2.xml" Id="R1aa9beb6ce4047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5d2dbd19be4ecc" /><Relationship Type="http://schemas.openxmlformats.org/officeDocument/2006/relationships/image" Target="/ppt/media/image3.png" Id="R36cd7b14770c4b0c" /><Relationship Type="http://schemas.openxmlformats.org/officeDocument/2006/relationships/notesSlide" Target="/ppt/notesSlides/notesSlide3.xml" Id="R08e0d8a4b9ed4c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caefc32e84eea" /><Relationship Type="http://schemas.openxmlformats.org/officeDocument/2006/relationships/notesSlide" Target="/ppt/notesSlides/notesSlide4.xml" Id="Re8690bc536ad4d9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9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rand-abc-1">
            <a:extLst xmlns:a="http://schemas.openxmlformats.org/drawingml/2006/main">
              <a:ext uri="{FF2B5EF4-FFF2-40B4-BE49-F238E27FC236}">
                <a16:creationId xmlns:a16="http://schemas.microsoft.com/office/drawing/2014/main" id="{F35DAA62-5F45-4956-8A0A-D7AB2696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66E58"/>
                </a:solidFill>
              </a:defRPr>
            </a:pPr>
            <a:r>
              <a:rPr sz="1275" b="1" i="0">
                <a:solidFill>
                  <a:srgbClr val="E66E58"/>
                </a:solidFill>
              </a:rPr>
              <a:t>ABC</a:t>
            </a:r>
          </a:p>
        </p:txBody>
      </p:sp>
      <p:sp>
        <p:nvSpPr>
          <p:cNvPr id="2" name="brand-tutoring-1">
            <a:extLst xmlns:a="http://schemas.openxmlformats.org/drawingml/2006/main">
              <a:ext uri="{FF2B5EF4-FFF2-40B4-BE49-F238E27FC236}">
                <a16:creationId xmlns:a16="http://schemas.microsoft.com/office/drawing/2014/main" id="{23C178ED-FA5F-41E0-858C-0E617616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4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93F3B"/>
                </a:solidFill>
              </a:defRPr>
            </a:pPr>
            <a:r>
              <a:rPr sz="1275" b="1" i="0">
                <a:solidFill>
                  <a:srgbClr val="193F3B"/>
                </a:solidFill>
              </a:rPr>
              <a:t>Tutoring</a:t>
            </a:r>
          </a:p>
        </p:txBody>
      </p:sp>
      <p:sp>
        <p:nvSpPr>
          <p:cNvPr id="3" name="slide-number-1">
            <a:extLst xmlns:a="http://schemas.openxmlformats.org/drawingml/2006/main">
              <a:ext uri="{FF2B5EF4-FFF2-40B4-BE49-F238E27FC236}">
                <a16:creationId xmlns:a16="http://schemas.microsoft.com/office/drawing/2014/main" id="{E0A041D0-0985-4117-9212-247CA467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14325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8716C"/>
                </a:solidFill>
              </a:defRPr>
            </a:pPr>
            <a:r>
              <a:rPr sz="900" b="0" i="0">
                <a:solidFill>
                  <a:srgbClr val="58716C"/>
                </a:solidFill>
              </a:rPr>
              <a:t>01 /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D7301-E51C-4835-B70C-B0FE7100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4F53D-C6B0-43C2-8374-B1EE7BF8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C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05A80-B540-433D-A29B-013234FF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0"/>
            <a:ext cx="2381250" cy="2381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E0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rand-abc-1">
            <a:extLst xmlns:a="http://schemas.openxmlformats.org/drawingml/2006/main">
              <a:ext uri="{FF2B5EF4-FFF2-40B4-BE49-F238E27FC236}">
                <a16:creationId xmlns:a16="http://schemas.microsoft.com/office/drawing/2014/main" id="{1AF2A6AB-73D7-405D-BAA2-A9035EB4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66E58"/>
                </a:solidFill>
              </a:defRPr>
            </a:pPr>
            <a:r>
              <a:rPr sz="1275" b="1" i="0">
                <a:solidFill>
                  <a:srgbClr val="E66E58"/>
                </a:solidFill>
              </a:rPr>
              <a:t>ABC</a:t>
            </a:r>
          </a:p>
        </p:txBody>
      </p:sp>
      <p:sp>
        <p:nvSpPr>
          <p:cNvPr id="8" name="brand-tutoring-1">
            <a:extLst xmlns:a="http://schemas.openxmlformats.org/drawingml/2006/main">
              <a:ext uri="{FF2B5EF4-FFF2-40B4-BE49-F238E27FC236}">
                <a16:creationId xmlns:a16="http://schemas.microsoft.com/office/drawing/2014/main" id="{B1621405-0009-46A6-9976-7F710D76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4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93F3B"/>
                </a:solidFill>
              </a:defRPr>
            </a:pPr>
            <a:r>
              <a:rPr sz="1275" b="1" i="0">
                <a:solidFill>
                  <a:srgbClr val="193F3B"/>
                </a:solidFill>
              </a:rPr>
              <a:t>Tutoring</a:t>
            </a:r>
          </a:p>
        </p:txBody>
      </p:sp>
      <p:sp>
        <p:nvSpPr>
          <p:cNvPr id="9" name="slide-number-1">
            <a:extLst xmlns:a="http://schemas.openxmlformats.org/drawingml/2006/main">
              <a:ext uri="{FF2B5EF4-FFF2-40B4-BE49-F238E27FC236}">
                <a16:creationId xmlns:a16="http://schemas.microsoft.com/office/drawing/2014/main" id="{8C68F619-9969-41B0-802E-41C719ED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14325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8716C"/>
                </a:solidFill>
              </a:defRPr>
            </a:pPr>
            <a:r>
              <a:rPr sz="900" b="0" i="0">
                <a:solidFill>
                  <a:srgbClr val="58716C"/>
                </a:solidFill>
              </a:rPr>
              <a:t>01 / 04</a:t>
            </a:r>
          </a:p>
        </p:txBody>
      </p:sp>
      <p:sp>
        <p:nvSpPr>
          <p:cNvPr id="10" name="slide1-eyebrow">
            <a:extLst xmlns:a="http://schemas.openxmlformats.org/drawingml/2006/main">
              <a:ext uri="{FF2B5EF4-FFF2-40B4-BE49-F238E27FC236}">
                <a16:creationId xmlns:a16="http://schemas.microsoft.com/office/drawing/2014/main" id="{57A27D8B-2C7E-4FE5-BF0A-CFF1D7AF1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74E3E"/>
                </a:solidFill>
              </a:defRPr>
            </a:pPr>
            <a:r>
              <a:rPr sz="1125" b="1" i="0">
                <a:solidFill>
                  <a:srgbClr val="B74E3E"/>
                </a:solidFill>
              </a:rPr>
              <a:t>ABC TUTORING PROTOTYPE</a:t>
            </a:r>
          </a:p>
        </p:txBody>
      </p:sp>
      <p:sp>
        <p:nvSpPr>
          <p:cNvPr id="11" name="slide1-title">
            <a:extLst xmlns:a="http://schemas.openxmlformats.org/drawingml/2006/main">
              <a:ext uri="{FF2B5EF4-FFF2-40B4-BE49-F238E27FC236}">
                <a16:creationId xmlns:a16="http://schemas.microsoft.com/office/drawing/2014/main" id="{F3AD853C-7A2E-485F-B150-F5312E20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5715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93F3B"/>
                </a:solidFill>
              </a:defRPr>
            </a:pPr>
            <a:r>
              <a:rPr sz="4350" b="1" i="0">
                <a:solidFill>
                  <a:srgbClr val="193F3B"/>
                </a:solidFill>
              </a:rPr>
              <a:t>A simpler first step for families.</a:t>
            </a:r>
          </a:p>
        </p:txBody>
      </p:sp>
      <p:sp>
        <p:nvSpPr>
          <p:cNvPr id="12" name="slide1-subtitle">
            <a:extLst xmlns:a="http://schemas.openxmlformats.org/drawingml/2006/main">
              <a:ext uri="{FF2B5EF4-FFF2-40B4-BE49-F238E27FC236}">
                <a16:creationId xmlns:a16="http://schemas.microsoft.com/office/drawing/2014/main" id="{1B2A65E0-E6A5-4728-A1A3-0DC7086A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514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58716C"/>
                </a:solidFill>
              </a:defRPr>
            </a:pPr>
            <a:r>
              <a:rPr sz="1875" b="0" i="0">
                <a:solidFill>
                  <a:srgbClr val="58716C"/>
                </a:solidFill>
              </a:rPr>
              <a:t>A clean, friendly way to find a good tutor, see an available time, and reserve a 60-minute session.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309063-BC79-412E-B7A0-E202FFDA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495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6E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lide1-footer">
            <a:extLst xmlns:a="http://schemas.openxmlformats.org/drawingml/2006/main">
              <a:ext uri="{FF2B5EF4-FFF2-40B4-BE49-F238E27FC236}">
                <a16:creationId xmlns:a16="http://schemas.microsoft.com/office/drawing/2014/main" id="{A9FC4EE0-7C9F-4910-B7ED-D8969032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E5A51"/>
                </a:solidFill>
              </a:defRPr>
            </a:pPr>
            <a:r>
              <a:rPr sz="1350" b="1" i="0">
                <a:solidFill>
                  <a:srgbClr val="0E5A51"/>
                </a:solidFill>
              </a:rPr>
              <a:t>Built for K-12 math, science, and reading - online or in person.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846AE3-F9F6-4978-A510-DFCA05DE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276350"/>
            <a:ext cx="3105150" cy="4381500"/>
          </a:xfrm>
          <a:prstGeom xmlns:a="http://schemas.openxmlformats.org/drawingml/2006/main" prst="roundRect">
            <a:avLst>
              <a:gd name="adj" fmla="val 7362"/>
            </a:avLst>
          </a:prstGeom>
          <a:solidFill xmlns:a="http://schemas.openxmlformats.org/drawingml/2006/main">
            <a:srgbClr val="E66E5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971009d8404b5b"/>
          <a:srcRect xmlns:a="http://schemas.openxmlformats.org/drawingml/2006/main" l="14565" t="0" r="1456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20050" y="1009650"/>
            <a:ext cx="3105150" cy="4381500"/>
          </a:xfrm>
          <a:prstGeom xmlns:a="http://schemas.openxmlformats.org/drawingml/2006/main" prst="roundRect">
            <a:avLst>
              <a:gd name="adj" fmla="val 7362"/>
            </a:avLst>
          </a:prstGeom>
        </p:spPr>
      </p:pic>
      <p:sp>
        <p:nvSpPr>
          <p:cNvPr id="17" name="slide1-caption">
            <a:extLst xmlns:a="http://schemas.openxmlformats.org/drawingml/2006/main">
              <a:ext uri="{FF2B5EF4-FFF2-40B4-BE49-F238E27FC236}">
                <a16:creationId xmlns:a16="http://schemas.microsoft.com/office/drawing/2014/main" id="{C18CC0A9-7F8A-4C12-A78D-EBAE97812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610225"/>
            <a:ext cx="3105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0E5A51"/>
                </a:solidFill>
              </a:defRPr>
            </a:pPr>
            <a:r>
              <a:rPr sz="1425" b="1" i="0">
                <a:solidFill>
                  <a:srgbClr val="0E5A51"/>
                </a:solidFill>
              </a:rPr>
              <a:t>A warmer way to get started.</a:t>
            </a:r>
          </a:p>
        </p:txBody>
      </p:sp>
    </p:spTree>
    <p:extLst>
      <p:ext uri="{BB962C8B-B14F-4D97-AF65-F5344CB8AC3E}">
        <p14:creationId xmlns:p14="http://schemas.microsoft.com/office/powerpoint/2010/main" val="17407018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9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rand-abc-2">
            <a:extLst xmlns:a="http://schemas.openxmlformats.org/drawingml/2006/main">
              <a:ext uri="{FF2B5EF4-FFF2-40B4-BE49-F238E27FC236}">
                <a16:creationId xmlns:a16="http://schemas.microsoft.com/office/drawing/2014/main" id="{892D8834-B70D-420C-ACFB-0798A4FE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66E58"/>
                </a:solidFill>
              </a:defRPr>
            </a:pPr>
            <a:r>
              <a:rPr sz="1275" b="1" i="0">
                <a:solidFill>
                  <a:srgbClr val="E66E58"/>
                </a:solidFill>
              </a:rPr>
              <a:t>ABC</a:t>
            </a:r>
          </a:p>
        </p:txBody>
      </p:sp>
      <p:sp>
        <p:nvSpPr>
          <p:cNvPr id="2" name="brand-tutoring-2">
            <a:extLst xmlns:a="http://schemas.openxmlformats.org/drawingml/2006/main">
              <a:ext uri="{FF2B5EF4-FFF2-40B4-BE49-F238E27FC236}">
                <a16:creationId xmlns:a16="http://schemas.microsoft.com/office/drawing/2014/main" id="{15345C02-A472-4E09-9F66-B6A83583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4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93F3B"/>
                </a:solidFill>
              </a:defRPr>
            </a:pPr>
            <a:r>
              <a:rPr sz="1275" b="1" i="0">
                <a:solidFill>
                  <a:srgbClr val="193F3B"/>
                </a:solidFill>
              </a:rPr>
              <a:t>Tutoring</a:t>
            </a:r>
          </a:p>
        </p:txBody>
      </p:sp>
      <p:sp>
        <p:nvSpPr>
          <p:cNvPr id="3" name="slide-number-2">
            <a:extLst xmlns:a="http://schemas.openxmlformats.org/drawingml/2006/main">
              <a:ext uri="{FF2B5EF4-FFF2-40B4-BE49-F238E27FC236}">
                <a16:creationId xmlns:a16="http://schemas.microsoft.com/office/drawing/2014/main" id="{AEE74F54-1099-43ED-8EFF-10ABD531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14325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8716C"/>
                </a:solidFill>
              </a:defRPr>
            </a:pPr>
            <a:r>
              <a:rPr sz="900" b="0" i="0">
                <a:solidFill>
                  <a:srgbClr val="58716C"/>
                </a:solidFill>
              </a:rPr>
              <a:t>02 / 04</a:t>
            </a:r>
          </a:p>
        </p:txBody>
      </p:sp>
      <p:sp>
        <p:nvSpPr>
          <p:cNvPr id="4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3AE39896-7FA4-4131-A43F-CB075BD6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71550"/>
            <a:ext cx="742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93F3B"/>
                </a:solidFill>
              </a:defRPr>
            </a:pPr>
            <a:r>
              <a:rPr sz="3150" b="1" i="0">
                <a:solidFill>
                  <a:srgbClr val="193F3B"/>
                </a:solidFill>
              </a:rPr>
              <a:t>Built around family decisions.</a:t>
            </a:r>
          </a:p>
        </p:txBody>
      </p:sp>
      <p:sp>
        <p:nvSpPr>
          <p:cNvPr id="5" name="slide2-subtitle">
            <a:extLst xmlns:a="http://schemas.openxmlformats.org/drawingml/2006/main">
              <a:ext uri="{FF2B5EF4-FFF2-40B4-BE49-F238E27FC236}">
                <a16:creationId xmlns:a16="http://schemas.microsoft.com/office/drawing/2014/main" id="{71F2663F-A394-4D22-B3A6-C7FE4C32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6429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8716C"/>
                </a:solidFill>
              </a:defRPr>
            </a:pPr>
            <a:r>
              <a:rPr sz="1575" b="0" i="0">
                <a:solidFill>
                  <a:srgbClr val="58716C"/>
                </a:solidFill>
              </a:rPr>
              <a:t>Dana’s brief guided both the layout and the booking details.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D0024D-E055-4B90-BE46-0145916F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38100" cy="262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6E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lide2-col1-title">
            <a:extLst xmlns:a="http://schemas.openxmlformats.org/drawingml/2006/main">
              <a:ext uri="{FF2B5EF4-FFF2-40B4-BE49-F238E27FC236}">
                <a16:creationId xmlns:a16="http://schemas.microsoft.com/office/drawing/2014/main" id="{438107B5-40EF-4EE5-B747-496FE30E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4315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E5A51"/>
                </a:solidFill>
              </a:defRPr>
            </a:pPr>
            <a:r>
              <a:rPr sz="1875" b="1" i="0">
                <a:solidFill>
                  <a:srgbClr val="0E5A51"/>
                </a:solidFill>
              </a:rPr>
              <a:t>Find a fit without guesswork</a:t>
            </a:r>
          </a:p>
        </p:txBody>
      </p:sp>
      <p:sp>
        <p:nvSpPr>
          <p:cNvPr id="8" name="slide2-col1-body">
            <a:extLst xmlns:a="http://schemas.openxmlformats.org/drawingml/2006/main">
              <a:ext uri="{FF2B5EF4-FFF2-40B4-BE49-F238E27FC236}">
                <a16:creationId xmlns:a16="http://schemas.microsoft.com/office/drawing/2014/main" id="{F9BA2299-98EB-4A68-84A9-861343F4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43200"/>
            <a:ext cx="34766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8716C"/>
                </a:solidFill>
              </a:defRPr>
            </a:pPr>
            <a:r>
              <a:rPr sz="1425" b="0" i="0">
                <a:solidFill>
                  <a:srgbClr val="58716C"/>
                </a:solidFill>
              </a:rPr>
              <a:t>Families can narrow the list by subject, grade level, and whether they need online or in-person support.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2E6BF3-24D9-4320-938C-52A0C7C7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81250"/>
            <a:ext cx="38100" cy="262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lide2-col2-title">
            <a:extLst xmlns:a="http://schemas.openxmlformats.org/drawingml/2006/main">
              <a:ext uri="{FF2B5EF4-FFF2-40B4-BE49-F238E27FC236}">
                <a16:creationId xmlns:a16="http://schemas.microsoft.com/office/drawing/2014/main" id="{4AE5312B-3F95-4B3A-B38E-961DCEF7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431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E5A51"/>
                </a:solidFill>
              </a:defRPr>
            </a:pPr>
            <a:r>
              <a:rPr sz="1875" b="1" i="0">
                <a:solidFill>
                  <a:srgbClr val="0E5A51"/>
                </a:solidFill>
              </a:rPr>
              <a:t>Choose a tutor with context</a:t>
            </a:r>
          </a:p>
        </p:txBody>
      </p:sp>
      <p:sp>
        <p:nvSpPr>
          <p:cNvPr id="11" name="slide2-col2-body">
            <a:extLst xmlns:a="http://schemas.openxmlformats.org/drawingml/2006/main">
              <a:ext uri="{FF2B5EF4-FFF2-40B4-BE49-F238E27FC236}">
                <a16:creationId xmlns:a16="http://schemas.microsoft.com/office/drawing/2014/main" id="{06BAC22A-0866-469B-A10F-E3723C4B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28950"/>
            <a:ext cx="2667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8716C"/>
                </a:solidFill>
              </a:defRPr>
            </a:pPr>
            <a:r>
              <a:rPr sz="1425" b="0" i="0">
                <a:solidFill>
                  <a:srgbClr val="58716C"/>
                </a:solidFill>
              </a:rPr>
              <a:t>Each profile shows a photo, focus areas, grades, session format, hourly rate, short bio, and open times.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c6c2c65ca49a6"/>
          <a:srcRect xmlns:a="http://schemas.openxmlformats.org/drawingml/2006/main" l="15029" t="0" r="1502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0" y="1666875"/>
            <a:ext cx="2305050" cy="3295650"/>
          </a:xfrm>
          <a:prstGeom xmlns:a="http://schemas.openxmlformats.org/drawingml/2006/main" prst="roundRect">
            <a:avLst>
              <a:gd name="adj" fmla="val 9917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252671-DB15-4619-ABC9-550BEAEB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00625"/>
            <a:ext cx="31432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DC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lide2-callout-title">
            <a:extLst xmlns:a="http://schemas.openxmlformats.org/drawingml/2006/main">
              <a:ext uri="{FF2B5EF4-FFF2-40B4-BE49-F238E27FC236}">
                <a16:creationId xmlns:a16="http://schemas.microsoft.com/office/drawing/2014/main" id="{9339C0DD-C91B-487B-8EA8-19044291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5219700"/>
            <a:ext cx="262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0E5A51"/>
                </a:solidFill>
              </a:defRPr>
            </a:pPr>
            <a:r>
              <a:rPr sz="1275" b="1" i="0">
                <a:solidFill>
                  <a:srgbClr val="0E5A51"/>
                </a:solidFill>
              </a:rPr>
              <a:t>Standard 60-minute sessions</a:t>
            </a:r>
          </a:p>
        </p:txBody>
      </p:sp>
      <p:sp>
        <p:nvSpPr>
          <p:cNvPr id="15" name="slide2-callout-body">
            <a:extLst xmlns:a="http://schemas.openxmlformats.org/drawingml/2006/main">
              <a:ext uri="{FF2B5EF4-FFF2-40B4-BE49-F238E27FC236}">
                <a16:creationId xmlns:a16="http://schemas.microsoft.com/office/drawing/2014/main" id="{259DD38A-C594-4328-A235-0C21FBEA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552450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58716C"/>
                </a:solidFill>
              </a:defRPr>
            </a:pPr>
            <a:r>
              <a:rPr sz="1050" b="0" i="0">
                <a:solidFill>
                  <a:srgbClr val="58716C"/>
                </a:solidFill>
              </a:rPr>
              <a:t>Clear choice. No extra math.</a:t>
            </a:r>
          </a:p>
        </p:txBody>
      </p:sp>
    </p:spTree>
    <p:extLst>
      <p:ext uri="{BB962C8B-B14F-4D97-AF65-F5344CB8AC3E}">
        <p14:creationId xmlns:p14="http://schemas.microsoft.com/office/powerpoint/2010/main" val="19420909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9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-abc-3">
            <a:extLst xmlns:a="http://schemas.openxmlformats.org/drawingml/2006/main">
              <a:ext uri="{FF2B5EF4-FFF2-40B4-BE49-F238E27FC236}">
                <a16:creationId xmlns:a16="http://schemas.microsoft.com/office/drawing/2014/main" id="{7E78A162-61D6-4037-80E3-09ADFD82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66E58"/>
                </a:solidFill>
              </a:defRPr>
            </a:pPr>
            <a:r>
              <a:rPr sz="1275" b="1" i="0">
                <a:solidFill>
                  <a:srgbClr val="E66E58"/>
                </a:solidFill>
              </a:rPr>
              <a:t>ABC</a:t>
            </a:r>
          </a:p>
        </p:txBody>
      </p:sp>
      <p:sp>
        <p:nvSpPr>
          <p:cNvPr id="2" name="brand-tutoring-3">
            <a:extLst xmlns:a="http://schemas.openxmlformats.org/drawingml/2006/main">
              <a:ext uri="{FF2B5EF4-FFF2-40B4-BE49-F238E27FC236}">
                <a16:creationId xmlns:a16="http://schemas.microsoft.com/office/drawing/2014/main" id="{2AF3EEFA-0129-47FC-8951-E2ECAE28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4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93F3B"/>
                </a:solidFill>
              </a:defRPr>
            </a:pPr>
            <a:r>
              <a:rPr sz="1275" b="1" i="0">
                <a:solidFill>
                  <a:srgbClr val="193F3B"/>
                </a:solidFill>
              </a:rPr>
              <a:t>Tutoring</a:t>
            </a:r>
          </a:p>
        </p:txBody>
      </p:sp>
      <p:sp>
        <p:nvSpPr>
          <p:cNvPr id="3" name="slide-number-3">
            <a:extLst xmlns:a="http://schemas.openxmlformats.org/drawingml/2006/main">
              <a:ext uri="{FF2B5EF4-FFF2-40B4-BE49-F238E27FC236}">
                <a16:creationId xmlns:a16="http://schemas.microsoft.com/office/drawing/2014/main" id="{A4E28003-B74D-4C09-9171-A4067ABA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14325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8716C"/>
                </a:solidFill>
              </a:defRPr>
            </a:pPr>
            <a:r>
              <a:rPr sz="900" b="0" i="0">
                <a:solidFill>
                  <a:srgbClr val="58716C"/>
                </a:solidFill>
              </a:rPr>
              <a:t>03 / 04</a:t>
            </a:r>
          </a:p>
        </p:txBody>
      </p:sp>
      <p:sp>
        <p:nvSpPr>
          <p:cNvPr id="4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2349F5B5-7BAB-42FA-8385-10AB5E62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71550"/>
            <a:ext cx="3962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93F3B"/>
                </a:solidFill>
              </a:defRPr>
            </a:pPr>
            <a:r>
              <a:rPr sz="3000" b="1" i="0">
                <a:solidFill>
                  <a:srgbClr val="193F3B"/>
                </a:solidFill>
              </a:rPr>
              <a:t>From a match to a reserved session.</a:t>
            </a:r>
          </a:p>
        </p:txBody>
      </p:sp>
      <p:sp>
        <p:nvSpPr>
          <p:cNvPr id="5" name="slide3-subtitle">
            <a:extLst xmlns:a="http://schemas.openxmlformats.org/drawingml/2006/main">
              <a:ext uri="{FF2B5EF4-FFF2-40B4-BE49-F238E27FC236}">
                <a16:creationId xmlns:a16="http://schemas.microsoft.com/office/drawing/2014/main" id="{310103D5-26D7-434B-A761-84EC343A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717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8716C"/>
                </a:solidFill>
              </a:defRPr>
            </a:pPr>
            <a:r>
              <a:rPr sz="1650" b="0" i="0">
                <a:solidFill>
                  <a:srgbClr val="58716C"/>
                </a:solidFill>
              </a:rPr>
              <a:t>The booking journey removes ambiguity at each step.</a:t>
            </a:r>
          </a:p>
        </p:txBody>
      </p:sp>
      <p:sp>
        <p:nvSpPr>
          <p:cNvPr id="6" name="slide3-step1">
            <a:extLst xmlns:a="http://schemas.openxmlformats.org/drawingml/2006/main">
              <a:ext uri="{FF2B5EF4-FFF2-40B4-BE49-F238E27FC236}">
                <a16:creationId xmlns:a16="http://schemas.microsoft.com/office/drawing/2014/main" id="{84E12AD0-8608-415A-B1FB-0877A432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0E5A51"/>
                </a:solidFill>
              </a:defRPr>
            </a:pPr>
            <a:r>
              <a:rPr sz="1575" b="1" i="0">
                <a:solidFill>
                  <a:srgbClr val="0E5A51"/>
                </a:solidFill>
              </a:rPr>
              <a:t>1. Filter for the right kind of help</a:t>
            </a:r>
          </a:p>
        </p:txBody>
      </p:sp>
      <p:sp>
        <p:nvSpPr>
          <p:cNvPr id="7" name="slide3-step1-body">
            <a:extLst xmlns:a="http://schemas.openxmlformats.org/drawingml/2006/main">
              <a:ext uri="{FF2B5EF4-FFF2-40B4-BE49-F238E27FC236}">
                <a16:creationId xmlns:a16="http://schemas.microsoft.com/office/drawing/2014/main" id="{DC9EDD96-B1B7-4886-BD83-F9DE1F32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3695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8716C"/>
                </a:solidFill>
              </a:defRPr>
            </a:pPr>
            <a:r>
              <a:rPr sz="1275" b="0" i="0">
                <a:solidFill>
                  <a:srgbClr val="58716C"/>
                </a:solidFill>
              </a:rPr>
              <a:t>Subject, grade level, and format lead to a focused list.</a:t>
            </a:r>
          </a:p>
        </p:txBody>
      </p:sp>
      <p:sp>
        <p:nvSpPr>
          <p:cNvPr id="8" name="slide3-step2">
            <a:extLst xmlns:a="http://schemas.openxmlformats.org/drawingml/2006/main">
              <a:ext uri="{FF2B5EF4-FFF2-40B4-BE49-F238E27FC236}">
                <a16:creationId xmlns:a16="http://schemas.microsoft.com/office/drawing/2014/main" id="{45A7C67E-FC7F-4B8F-9695-DC47CDEC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0E5A51"/>
                </a:solidFill>
              </a:defRPr>
            </a:pPr>
            <a:r>
              <a:rPr sz="1575" b="1" i="0">
                <a:solidFill>
                  <a:srgbClr val="0E5A51"/>
                </a:solidFill>
              </a:rPr>
              <a:t>2. Choose an open 60-minute time</a:t>
            </a:r>
          </a:p>
        </p:txBody>
      </p:sp>
      <p:sp>
        <p:nvSpPr>
          <p:cNvPr id="9" name="slide3-step2-body">
            <a:extLst xmlns:a="http://schemas.openxmlformats.org/drawingml/2006/main">
              <a:ext uri="{FF2B5EF4-FFF2-40B4-BE49-F238E27FC236}">
                <a16:creationId xmlns:a16="http://schemas.microsoft.com/office/drawing/2014/main" id="{0782B2FF-DD32-486C-AB54-82A92BF6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3695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8716C"/>
                </a:solidFill>
              </a:defRPr>
            </a:pPr>
            <a:r>
              <a:rPr sz="1275" b="0" i="0">
                <a:solidFill>
                  <a:srgbClr val="58716C"/>
                </a:solidFill>
              </a:rPr>
              <a:t>A confirmed time disappears immediately, so availability stays honest.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620A5-64FE-4351-B351-806A5E4A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057275"/>
            <a:ext cx="6229350" cy="47434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D8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cd7b14770c4b0c"/>
          <a:srcRect xmlns:a="http://schemas.openxmlformats.org/drawingml/2006/main" l="0" t="30914" r="0" b="309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95900" y="1238250"/>
            <a:ext cx="5886450" cy="4381500"/>
          </a:xfrm>
          <a:prstGeom xmlns:a="http://schemas.openxmlformats.org/drawingml/2006/main" prst="roundRect">
            <a:avLst>
              <a:gd name="adj" fmla="val 3478"/>
            </a:avLst>
          </a:prstGeom>
        </p:spPr>
      </p:pic>
    </p:spTree>
    <p:extLst>
      <p:ext uri="{BB962C8B-B14F-4D97-AF65-F5344CB8AC3E}">
        <p14:creationId xmlns:p14="http://schemas.microsoft.com/office/powerpoint/2010/main" val="11455903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E5A5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rand-abc-4">
            <a:extLst xmlns:a="http://schemas.openxmlformats.org/drawingml/2006/main">
              <a:ext uri="{FF2B5EF4-FFF2-40B4-BE49-F238E27FC236}">
                <a16:creationId xmlns:a16="http://schemas.microsoft.com/office/drawing/2014/main" id="{1D68A9B4-9102-4648-86F5-832070F55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66E58"/>
                </a:solidFill>
              </a:defRPr>
            </a:pPr>
            <a:r>
              <a:rPr sz="1275" b="1" i="0">
                <a:solidFill>
                  <a:srgbClr val="E66E58"/>
                </a:solidFill>
              </a:rPr>
              <a:t>ABC</a:t>
            </a:r>
          </a:p>
        </p:txBody>
      </p:sp>
      <p:sp>
        <p:nvSpPr>
          <p:cNvPr id="2" name="brand-tutoring-4">
            <a:extLst xmlns:a="http://schemas.openxmlformats.org/drawingml/2006/main">
              <a:ext uri="{FF2B5EF4-FFF2-40B4-BE49-F238E27FC236}">
                <a16:creationId xmlns:a16="http://schemas.microsoft.com/office/drawing/2014/main" id="{BE5180C1-91D6-4F99-8853-66935190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4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Tutoring</a:t>
            </a:r>
          </a:p>
        </p:txBody>
      </p:sp>
      <p:sp>
        <p:nvSpPr>
          <p:cNvPr id="3" name="slide-number-4">
            <a:extLst xmlns:a="http://schemas.openxmlformats.org/drawingml/2006/main">
              <a:ext uri="{FF2B5EF4-FFF2-40B4-BE49-F238E27FC236}">
                <a16:creationId xmlns:a16="http://schemas.microsoft.com/office/drawing/2014/main" id="{FBA97FD8-3FA1-4AB5-9183-12732ECA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14325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C7E3DB"/>
                </a:solidFill>
              </a:defRPr>
            </a:pPr>
            <a:r>
              <a:rPr sz="900" b="0" i="0">
                <a:solidFill>
                  <a:srgbClr val="C7E3DB"/>
                </a:solidFill>
              </a:rPr>
              <a:t>04 / 04</a:t>
            </a:r>
          </a:p>
        </p:txBody>
      </p:sp>
      <p:sp>
        <p:nvSpPr>
          <p:cNvPr id="4" name="slide4-title">
            <a:extLst xmlns:a="http://schemas.openxmlformats.org/drawingml/2006/main">
              <a:ext uri="{FF2B5EF4-FFF2-40B4-BE49-F238E27FC236}">
                <a16:creationId xmlns:a16="http://schemas.microsoft.com/office/drawing/2014/main" id="{6509383F-165E-42BA-8EE6-EFCA9359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81075"/>
            <a:ext cx="790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FFFFF"/>
                </a:solidFill>
              </a:defRPr>
            </a:pPr>
            <a:r>
              <a:rPr sz="3150" b="1" i="0">
                <a:solidFill>
                  <a:srgbClr val="FFFFFF"/>
                </a:solidFill>
              </a:rPr>
              <a:t>Reporting answers your real questions.</a:t>
            </a:r>
          </a:p>
        </p:txBody>
      </p:sp>
      <p:sp>
        <p:nvSpPr>
          <p:cNvPr id="5" name="slide4-subtitle">
            <a:extLst xmlns:a="http://schemas.openxmlformats.org/drawingml/2006/main">
              <a:ext uri="{FF2B5EF4-FFF2-40B4-BE49-F238E27FC236}">
                <a16:creationId xmlns:a16="http://schemas.microsoft.com/office/drawing/2014/main" id="{91BC1AC0-AD67-4E0B-9C23-08F932D7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9725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C7E3DB"/>
                </a:solidFill>
              </a:defRPr>
            </a:pPr>
            <a:r>
              <a:rPr sz="1575" b="0" i="0">
                <a:solidFill>
                  <a:srgbClr val="C7E3DB"/>
                </a:solidFill>
              </a:rPr>
              <a:t>Only meaningful booking signals are captured - never parent contact details.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D36666-5D8E-4A27-906F-63C31A5F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2857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6E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lide4-col1-title">
            <a:extLst xmlns:a="http://schemas.openxmlformats.org/drawingml/2006/main">
              <a:ext uri="{FF2B5EF4-FFF2-40B4-BE49-F238E27FC236}">
                <a16:creationId xmlns:a16="http://schemas.microsoft.com/office/drawing/2014/main" id="{9C06E991-A014-4141-B777-7BA2CDCB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95550"/>
            <a:ext cx="2609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Which tutors get attention?</a:t>
            </a:r>
          </a:p>
        </p:txBody>
      </p:sp>
      <p:sp>
        <p:nvSpPr>
          <p:cNvPr id="8" name="slide4-col1-body">
            <a:extLst xmlns:a="http://schemas.openxmlformats.org/drawingml/2006/main">
              <a:ext uri="{FF2B5EF4-FFF2-40B4-BE49-F238E27FC236}">
                <a16:creationId xmlns:a16="http://schemas.microsoft.com/office/drawing/2014/main" id="{C4CCE9BD-9DD3-46CD-B102-D002D98A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00400"/>
            <a:ext cx="2476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C7E3DB"/>
                </a:solidFill>
              </a:defRPr>
            </a:pPr>
            <a:r>
              <a:rPr sz="1350" b="0" i="0">
                <a:solidFill>
                  <a:srgbClr val="C7E3DB"/>
                </a:solidFill>
              </a:rPr>
              <a:t>Tutor profile views show where families are spending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2E2763-E4AC-45FF-B4AB-B63FB4CA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33650"/>
            <a:ext cx="2857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lide4-col2-title">
            <a:extLst xmlns:a="http://schemas.openxmlformats.org/drawingml/2006/main">
              <a:ext uri="{FF2B5EF4-FFF2-40B4-BE49-F238E27FC236}">
                <a16:creationId xmlns:a16="http://schemas.microsoft.com/office/drawing/2014/main" id="{A421824F-5742-4C5A-859C-C85AD380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95550"/>
            <a:ext cx="2609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Where does booking slow down?</a:t>
            </a:r>
          </a:p>
        </p:txBody>
      </p:sp>
      <p:sp>
        <p:nvSpPr>
          <p:cNvPr id="11" name="slide4-col2-body">
            <a:extLst xmlns:a="http://schemas.openxmlformats.org/drawingml/2006/main">
              <a:ext uri="{FF2B5EF4-FFF2-40B4-BE49-F238E27FC236}">
                <a16:creationId xmlns:a16="http://schemas.microsoft.com/office/drawing/2014/main" id="{E7B6BFEE-A043-4B86-BF32-5F5A25A9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004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C7E3DB"/>
                </a:solidFill>
              </a:defRPr>
            </a:pPr>
            <a:r>
              <a:rPr sz="1350" b="0" i="0">
                <a:solidFill>
                  <a:srgbClr val="C7E3DB"/>
                </a:solidFill>
              </a:rPr>
              <a:t>Profile view, time selection, confirmation, and exit events show the drop-off point.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E50E82-6DE7-4A22-996C-9443AC0A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33650"/>
            <a:ext cx="2857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6E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lide4-col3-title">
            <a:extLst xmlns:a="http://schemas.openxmlformats.org/drawingml/2006/main">
              <a:ext uri="{FF2B5EF4-FFF2-40B4-BE49-F238E27FC236}">
                <a16:creationId xmlns:a16="http://schemas.microsoft.com/office/drawing/2014/main" id="{E29DDA96-D465-4713-9640-575B520D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955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What kind of help is in demand?</a:t>
            </a:r>
          </a:p>
        </p:txBody>
      </p:sp>
      <p:sp>
        <p:nvSpPr>
          <p:cNvPr id="14" name="slide4-col3-body">
            <a:extLst xmlns:a="http://schemas.openxmlformats.org/drawingml/2006/main">
              <a:ext uri="{FF2B5EF4-FFF2-40B4-BE49-F238E27FC236}">
                <a16:creationId xmlns:a16="http://schemas.microsoft.com/office/drawing/2014/main" id="{D1FEC87E-8688-4BAD-8215-A590F486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0040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C7E3DB"/>
                </a:solidFill>
              </a:defRPr>
            </a:pPr>
            <a:r>
              <a:rPr sz="1350" b="0" i="0">
                <a:solidFill>
                  <a:srgbClr val="C7E3DB"/>
                </a:solidFill>
              </a:rPr>
              <a:t>Filters and completed bookings reveal subject, grade, and format interest.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21886F-8D26-4ECB-84BB-AD98E67A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10629900" cy="781050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0B4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lide4-proof">
            <a:extLst xmlns:a="http://schemas.openxmlformats.org/drawingml/2006/main">
              <a:ext uri="{FF2B5EF4-FFF2-40B4-BE49-F238E27FC236}">
                <a16:creationId xmlns:a16="http://schemas.microsoft.com/office/drawing/2014/main" id="{28FF5B3D-524B-4A36-8BA8-90EFCC90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48275"/>
            <a:ext cx="10191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Demo check: 4 simulated visitors | 2 confirmed bookings | 1 booking exit | 1 profile-only visit</a:t>
            </a:r>
          </a:p>
        </p:txBody>
      </p:sp>
      <p:sp>
        <p:nvSpPr>
          <p:cNvPr id="17" name="slide4-proof-detail">
            <a:extLst xmlns:a="http://schemas.openxmlformats.org/drawingml/2006/main">
              <a:ext uri="{FF2B5EF4-FFF2-40B4-BE49-F238E27FC236}">
                <a16:creationId xmlns:a16="http://schemas.microsoft.com/office/drawing/2014/main" id="{EDFB18A3-D069-47F1-BAEF-4C8A8A01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553075"/>
            <a:ext cx="1019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C7E3DB"/>
                </a:solidFill>
              </a:defRPr>
            </a:pPr>
            <a:r>
              <a:rPr sz="1050" b="0" i="0">
                <a:solidFill>
                  <a:srgbClr val="C7E3DB"/>
                </a:solidFill>
              </a:rPr>
              <a:t>Every simulated PostHog request returned HTTP 200. Filter traffic_type to simulated when reviewing the demo.</a:t>
            </a:r>
          </a:p>
        </p:txBody>
      </p:sp>
    </p:spTree>
    <p:extLst>
      <p:ext uri="{BB962C8B-B14F-4D97-AF65-F5344CB8AC3E}">
        <p14:creationId xmlns:p14="http://schemas.microsoft.com/office/powerpoint/2010/main" val="1158157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2026-09-03T05:33:56.1420000Z</dcterms:created>
  <dcterms:modified xsi:type="dcterms:W3CDTF">2026-09-03T05:33:56.1420000Z</dcterms:modified>
</coreProperties>
</file>