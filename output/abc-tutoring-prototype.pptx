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4329eeb4f0741d6" /><Relationship Type="http://schemas.openxmlformats.org/officeDocument/2006/relationships/extended-properties" Target="/docProps/app.xml" Id="R2ffc7e700cfc4ddd" /><Relationship Type="http://schemas.openxmlformats.org/officeDocument/2006/relationships/officeDocument" Target="/ppt/presentation.xml" Id="R79c1317ef71e442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62e47d8698e4798"/>
  </p:sldMasterIdLst>
  <p:notesMasterIdLst>
    <p:notesMasterId xmlns:r="http://schemas.openxmlformats.org/officeDocument/2006/relationships" r:id="R435d5a1f8e8543a6"/>
  </p:notesMasterIdLst>
  <p:sldIdLst>
    <p:sldId xmlns:r="http://schemas.openxmlformats.org/officeDocument/2006/relationships" id="256" r:id="R21f01fc60ea940f8"/>
    <p:sldId xmlns:r="http://schemas.openxmlformats.org/officeDocument/2006/relationships" id="257" r:id="R6f28df0c66014fb7"/>
    <p:sldId xmlns:r="http://schemas.openxmlformats.org/officeDocument/2006/relationships" id="258" r:id="Rc9aa12181e9245a2"/>
    <p:sldId xmlns:r="http://schemas.openxmlformats.org/officeDocument/2006/relationships" id="259" r:id="Rc10174d55c8c43ef"/>
    <p:sldId xmlns:r="http://schemas.openxmlformats.org/officeDocument/2006/relationships" id="260" r:id="Re6628517be0e426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d7d9ef4ecc14a3d" /><Relationship Type="http://schemas.openxmlformats.org/officeDocument/2006/relationships/slideMaster" Target="/ppt/slideMasters/slideMaster1.xml" Id="R862e47d8698e4798" /><Relationship Type="http://schemas.openxmlformats.org/officeDocument/2006/relationships/notesMaster" Target="/ppt/notesMasters/notesMaster1.xml" Id="R435d5a1f8e8543a6" /><Relationship Type="http://schemas.openxmlformats.org/officeDocument/2006/relationships/presProps" Target="/ppt/presProps.xml" Id="R774293628d794513" /><Relationship Type="http://schemas.openxmlformats.org/officeDocument/2006/relationships/tableStyles" Target="/ppt/tableStyles.xml" Id="R840696eeb6b346d8" /><Relationship Type="http://schemas.openxmlformats.org/officeDocument/2006/relationships/slide" Target="/ppt/slides/slide1.xml" Id="R21f01fc60ea940f8" /><Relationship Type="http://schemas.openxmlformats.org/officeDocument/2006/relationships/slide" Target="/ppt/slides/slide2.xml" Id="R6f28df0c66014fb7" /><Relationship Type="http://schemas.openxmlformats.org/officeDocument/2006/relationships/slide" Target="/ppt/slides/slide3.xml" Id="Rc9aa12181e9245a2" /><Relationship Type="http://schemas.openxmlformats.org/officeDocument/2006/relationships/slide" Target="/ppt/slides/slide4.xml" Id="Rc10174d55c8c43ef" /><Relationship Type="http://schemas.openxmlformats.org/officeDocument/2006/relationships/slide" Target="/ppt/slides/slide5.xml" Id="Re6628517be0e426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498cb85de6e400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2ab88e6fca146e7" /><Relationship Type="http://schemas.openxmlformats.org/officeDocument/2006/relationships/notesMaster" Target="/ppt/notesMasters/notesMaster1.xml" Id="R4486c73dcdff415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c87fb0e6a644685" /><Relationship Type="http://schemas.openxmlformats.org/officeDocument/2006/relationships/notesMaster" Target="/ppt/notesMasters/notesMaster1.xml" Id="Re003dedb033e4d1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42fc67caf444e2c" /><Relationship Type="http://schemas.openxmlformats.org/officeDocument/2006/relationships/notesMaster" Target="/ppt/notesMasters/notesMaster1.xml" Id="R602d0b95f29a4b0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77316ee5d7b4564" /><Relationship Type="http://schemas.openxmlformats.org/officeDocument/2006/relationships/notesMaster" Target="/ppt/notesMasters/notesMaster1.xml" Id="R66ed6d5a13b848d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4b4138676ac4f40" /><Relationship Type="http://schemas.openxmlformats.org/officeDocument/2006/relationships/notesMaster" Target="/ppt/notesMasters/notesMaster1.xml" Id="R8acfbf46cc7e4b9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Customer interview, Dana, 2026-09-02.</a:t>
            </a:r>
          </a:p>
          <a:p xmlns:a="http://schemas.openxmlformats.org/drawingml/2006/main">
            <a:r>
              <a:t>Representative tutor portrait generated for this project: assets/images/maya-patel.png.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Customer interview, Dana, 2026-09-02.</a:t>
            </a:r>
          </a:p>
          <a:p xmlns:a="http://schemas.openxmlformats.org/drawingml/2006/main">
            <a:r>
              <a:t>Representative tutor portrait generated for this project: assets/images/sofia-ramirez.png.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prototype screenshot: tmp/presentation/abc-tutoring-mobile.png, captured 2026-09-03.</a:t>
            </a:r>
          </a:p>
          <a:p xmlns:a="http://schemas.openxmlformats.org/drawingml/2006/main">
            <a:r>
              <a:t>Customer interview, Dana, 2026-09-02.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Customer interview, Dana, 2026-09-02.</a:t>
            </a:r>
          </a:p>
          <a:p xmlns:a="http://schemas.openxmlformats.org/drawingml/2006/main">
            <a:r>
              <a:t>Local traffic evidence: output/traffic-simulation-summary.json.</a:t>
            </a:r>
          </a:p>
          <a:p xmlns:a="http://schemas.openxmlformats.org/drawingml/2006/main">
            <a:r>
              <a:t>PostHog dashboard setup: ANALYTICS_DASHBOARD.md.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Customer interview, Dana, 2026-09-02.</a:t>
            </a:r>
          </a:p>
          <a:p xmlns:a="http://schemas.openxmlformats.org/drawingml/2006/main">
            <a:r>
              <a:t>Production boundary recommendation based on the static demo architecture; no external claim required.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b3b20b26ffc427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1c33aef177e49b8" /><Relationship Type="http://schemas.openxmlformats.org/officeDocument/2006/relationships/slideLayout" Target="/ppt/slideLayouts/slideLayout1.xml" Id="Rb2c3b5726e7843d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2c3b5726e7843d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05e6874ef14ed2" /><Relationship Type="http://schemas.openxmlformats.org/officeDocument/2006/relationships/image" Target="/ppt/media/image.png" Id="Rda150e1726d047a8" /><Relationship Type="http://schemas.openxmlformats.org/officeDocument/2006/relationships/notesSlide" Target="/ppt/notesSlides/notesSlide1.xml" Id="Rc3186aa13d67457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324f8444b54f88" /><Relationship Type="http://schemas.openxmlformats.org/officeDocument/2006/relationships/image" Target="/ppt/media/image2.png" Id="R8c80474abaa349bb" /><Relationship Type="http://schemas.openxmlformats.org/officeDocument/2006/relationships/notesSlide" Target="/ppt/notesSlides/notesSlide2.xml" Id="R286bf0e9e401492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a85bdb4ab94ca9" /><Relationship Type="http://schemas.openxmlformats.org/officeDocument/2006/relationships/image" Target="/ppt/media/image3.png" Id="R73562511d37d4b5c" /><Relationship Type="http://schemas.openxmlformats.org/officeDocument/2006/relationships/notesSlide" Target="/ppt/notesSlides/notesSlide3.xml" Id="Ra374e9afdab5412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b32812e0354c3e" /><Relationship Type="http://schemas.openxmlformats.org/officeDocument/2006/relationships/notesSlide" Target="/ppt/notesSlides/notesSlide4.xml" Id="R5f4174f6c67e490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dc5d2d2a13449c" /><Relationship Type="http://schemas.openxmlformats.org/officeDocument/2006/relationships/notesSlide" Target="/ppt/notesSlides/notesSlide5.xml" Id="R6e951de5af5d4a1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9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5BA68E-0BAF-4B96-B261-2435B6E18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4FF10A-369D-4211-8221-12C8AFBBE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0"/>
            <a:ext cx="48958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C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355B4D-A4F1-4955-96F5-52071D2D0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0"/>
            <a:ext cx="2381250" cy="2381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BE0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brand-abc-1">
            <a:extLst xmlns:a="http://schemas.openxmlformats.org/drawingml/2006/main">
              <a:ext uri="{FF2B5EF4-FFF2-40B4-BE49-F238E27FC236}">
                <a16:creationId xmlns:a16="http://schemas.microsoft.com/office/drawing/2014/main" id="{440BAECF-32A9-4A0F-B617-0644B9321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48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E66E58"/>
                </a:solidFill>
              </a:defRPr>
            </a:pPr>
            <a:r>
              <a:rPr sz="1275" b="1" i="0">
                <a:solidFill>
                  <a:srgbClr val="E66E58"/>
                </a:solidFill>
              </a:rPr>
              <a:t>ABC</a:t>
            </a:r>
          </a:p>
        </p:txBody>
      </p:sp>
      <p:sp>
        <p:nvSpPr>
          <p:cNvPr id="5" name="brand-tutoring-1">
            <a:extLst xmlns:a="http://schemas.openxmlformats.org/drawingml/2006/main">
              <a:ext uri="{FF2B5EF4-FFF2-40B4-BE49-F238E27FC236}">
                <a16:creationId xmlns:a16="http://schemas.microsoft.com/office/drawing/2014/main" id="{830F67F0-61F9-4E7F-933B-DD2639A31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048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93F3B"/>
                </a:solidFill>
              </a:defRPr>
            </a:pPr>
            <a:r>
              <a:rPr sz="1275" b="1" i="0">
                <a:solidFill>
                  <a:srgbClr val="193F3B"/>
                </a:solidFill>
              </a:rPr>
              <a:t>Tutoring</a:t>
            </a:r>
          </a:p>
        </p:txBody>
      </p:sp>
      <p:sp>
        <p:nvSpPr>
          <p:cNvPr id="6" name="slide-number-1">
            <a:extLst xmlns:a="http://schemas.openxmlformats.org/drawingml/2006/main">
              <a:ext uri="{FF2B5EF4-FFF2-40B4-BE49-F238E27FC236}">
                <a16:creationId xmlns:a16="http://schemas.microsoft.com/office/drawing/2014/main" id="{2FFF14D3-FFA5-467D-9089-E49824FF7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14325"/>
            <a:ext cx="1200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58716C"/>
                </a:solidFill>
              </a:defRPr>
            </a:pPr>
            <a:r>
              <a:rPr sz="900" b="0" i="0">
                <a:solidFill>
                  <a:srgbClr val="58716C"/>
                </a:solidFill>
              </a:rPr>
              <a:t>01 / 05</a:t>
            </a:r>
          </a:p>
        </p:txBody>
      </p:sp>
      <p:sp>
        <p:nvSpPr>
          <p:cNvPr id="7" name="slide1-eyebrow">
            <a:extLst xmlns:a="http://schemas.openxmlformats.org/drawingml/2006/main">
              <a:ext uri="{FF2B5EF4-FFF2-40B4-BE49-F238E27FC236}">
                <a16:creationId xmlns:a16="http://schemas.microsoft.com/office/drawing/2014/main" id="{9E8AADD3-1102-4DA1-AB56-C46959BDA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28750"/>
            <a:ext cx="542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B74E3E"/>
                </a:solidFill>
              </a:defRPr>
            </a:pPr>
            <a:r>
              <a:rPr sz="1125" b="1" i="0">
                <a:solidFill>
                  <a:srgbClr val="B74E3E"/>
                </a:solidFill>
              </a:rPr>
              <a:t>ABC TUTORING PROTOTYPE</a:t>
            </a:r>
          </a:p>
        </p:txBody>
      </p:sp>
      <p:sp>
        <p:nvSpPr>
          <p:cNvPr id="8" name="slide1-title">
            <a:extLst xmlns:a="http://schemas.openxmlformats.org/drawingml/2006/main">
              <a:ext uri="{FF2B5EF4-FFF2-40B4-BE49-F238E27FC236}">
                <a16:creationId xmlns:a16="http://schemas.microsoft.com/office/drawing/2014/main" id="{1569AEFC-BE1B-4944-AC3F-D9A9FBB9E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47850"/>
            <a:ext cx="571500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 i="0">
                <a:solidFill>
                  <a:srgbClr val="193F3B"/>
                </a:solidFill>
              </a:defRPr>
            </a:pPr>
            <a:r>
              <a:rPr sz="4350" b="1" i="0">
                <a:solidFill>
                  <a:srgbClr val="193F3B"/>
                </a:solidFill>
              </a:rPr>
              <a:t>A clearer first step for families.</a:t>
            </a:r>
          </a:p>
        </p:txBody>
      </p:sp>
      <p:sp>
        <p:nvSpPr>
          <p:cNvPr id="9" name="slide1-subtitle">
            <a:extLst xmlns:a="http://schemas.openxmlformats.org/drawingml/2006/main">
              <a:ext uri="{FF2B5EF4-FFF2-40B4-BE49-F238E27FC236}">
                <a16:creationId xmlns:a16="http://schemas.microsoft.com/office/drawing/2014/main" id="{6F38445B-C7FE-4E7C-8F4B-2B63BAC27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05250"/>
            <a:ext cx="5238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58716C"/>
                </a:solidFill>
              </a:defRPr>
            </a:pPr>
            <a:r>
              <a:rPr sz="1875" b="0" i="0">
                <a:solidFill>
                  <a:srgbClr val="58716C"/>
                </a:solidFill>
              </a:rPr>
              <a:t>A phone-ready way to find the right tutor, see rates and times, and reserve a 60-minute session.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29F0BE-4573-473D-B560-214D046E2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86375"/>
            <a:ext cx="4953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6E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lide1-footer">
            <a:extLst xmlns:a="http://schemas.openxmlformats.org/drawingml/2006/main">
              <a:ext uri="{FF2B5EF4-FFF2-40B4-BE49-F238E27FC236}">
                <a16:creationId xmlns:a16="http://schemas.microsoft.com/office/drawing/2014/main" id="{F57C85B4-AECB-48D2-B262-6733CDDF7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95925"/>
            <a:ext cx="590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E5A51"/>
                </a:solidFill>
              </a:defRPr>
            </a:pPr>
            <a:r>
              <a:rPr sz="1350" b="1" i="0">
                <a:solidFill>
                  <a:srgbClr val="0E5A51"/>
                </a:solidFill>
              </a:rPr>
              <a:t>Six representative tutors for math, science, and reading.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1140D7-B7C4-4AB5-9FF5-9EF93F7AA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1276350"/>
            <a:ext cx="3105150" cy="4381500"/>
          </a:xfrm>
          <a:prstGeom xmlns:a="http://schemas.openxmlformats.org/drawingml/2006/main" prst="roundRect">
            <a:avLst>
              <a:gd name="adj" fmla="val 7362"/>
            </a:avLst>
          </a:prstGeom>
          <a:solidFill xmlns:a="http://schemas.openxmlformats.org/drawingml/2006/main">
            <a:srgbClr val="E66E5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150e1726d047a8"/>
          <a:srcRect xmlns:a="http://schemas.openxmlformats.org/drawingml/2006/main" l="14565" t="0" r="1456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20050" y="1009650"/>
            <a:ext cx="3105150" cy="4381500"/>
          </a:xfrm>
          <a:prstGeom xmlns:a="http://schemas.openxmlformats.org/drawingml/2006/main" prst="roundRect">
            <a:avLst>
              <a:gd name="adj" fmla="val 7362"/>
            </a:avLst>
          </a:prstGeom>
        </p:spPr>
      </p:pic>
      <p:sp>
        <p:nvSpPr>
          <p:cNvPr id="14" name="slide1-caption">
            <a:extLst xmlns:a="http://schemas.openxmlformats.org/drawingml/2006/main">
              <a:ext uri="{FF2B5EF4-FFF2-40B4-BE49-F238E27FC236}">
                <a16:creationId xmlns:a16="http://schemas.microsoft.com/office/drawing/2014/main" id="{5D061E98-35B9-439F-A521-696C4C361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610225"/>
            <a:ext cx="3105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0E5A51"/>
                </a:solidFill>
              </a:defRPr>
            </a:pPr>
            <a:r>
              <a:rPr sz="1425" b="1" i="0">
                <a:solidFill>
                  <a:srgbClr val="0E5A51"/>
                </a:solidFill>
              </a:rPr>
              <a:t>Friendly on purpose. Clear by design.</a:t>
            </a:r>
          </a:p>
        </p:txBody>
      </p:sp>
    </p:spTree>
    <p:extLst>
      <p:ext uri="{BB962C8B-B14F-4D97-AF65-F5344CB8AC3E}">
        <p14:creationId xmlns:p14="http://schemas.microsoft.com/office/powerpoint/2010/main" val="41902125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9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brand-abc-2">
            <a:extLst xmlns:a="http://schemas.openxmlformats.org/drawingml/2006/main">
              <a:ext uri="{FF2B5EF4-FFF2-40B4-BE49-F238E27FC236}">
                <a16:creationId xmlns:a16="http://schemas.microsoft.com/office/drawing/2014/main" id="{9360F159-BA2F-4D3A-ABD4-7EF4EFACA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48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E66E58"/>
                </a:solidFill>
              </a:defRPr>
            </a:pPr>
            <a:r>
              <a:rPr sz="1275" b="1" i="0">
                <a:solidFill>
                  <a:srgbClr val="E66E58"/>
                </a:solidFill>
              </a:rPr>
              <a:t>ABC</a:t>
            </a:r>
          </a:p>
        </p:txBody>
      </p:sp>
      <p:sp>
        <p:nvSpPr>
          <p:cNvPr id="2" name="brand-tutoring-2">
            <a:extLst xmlns:a="http://schemas.openxmlformats.org/drawingml/2006/main">
              <a:ext uri="{FF2B5EF4-FFF2-40B4-BE49-F238E27FC236}">
                <a16:creationId xmlns:a16="http://schemas.microsoft.com/office/drawing/2014/main" id="{068170E2-8393-4371-8F0F-0661D5DF7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048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93F3B"/>
                </a:solidFill>
              </a:defRPr>
            </a:pPr>
            <a:r>
              <a:rPr sz="1275" b="1" i="0">
                <a:solidFill>
                  <a:srgbClr val="193F3B"/>
                </a:solidFill>
              </a:rPr>
              <a:t>Tutoring</a:t>
            </a:r>
          </a:p>
        </p:txBody>
      </p:sp>
      <p:sp>
        <p:nvSpPr>
          <p:cNvPr id="3" name="slide-number-2">
            <a:extLst xmlns:a="http://schemas.openxmlformats.org/drawingml/2006/main">
              <a:ext uri="{FF2B5EF4-FFF2-40B4-BE49-F238E27FC236}">
                <a16:creationId xmlns:a16="http://schemas.microsoft.com/office/drawing/2014/main" id="{947A9C9B-F820-4BDD-95E2-8B8BBFF6E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14325"/>
            <a:ext cx="1200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58716C"/>
                </a:solidFill>
              </a:defRPr>
            </a:pPr>
            <a:r>
              <a:rPr sz="900" b="0" i="0">
                <a:solidFill>
                  <a:srgbClr val="58716C"/>
                </a:solidFill>
              </a:rPr>
              <a:t>02 / 05</a:t>
            </a:r>
          </a:p>
        </p:txBody>
      </p:sp>
      <p:sp>
        <p:nvSpPr>
          <p:cNvPr id="4" name="slide2-title">
            <a:extLst xmlns:a="http://schemas.openxmlformats.org/drawingml/2006/main">
              <a:ext uri="{FF2B5EF4-FFF2-40B4-BE49-F238E27FC236}">
                <a16:creationId xmlns:a16="http://schemas.microsoft.com/office/drawing/2014/main" id="{3EEEF4F5-9325-421D-A4C1-E4C370285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71550"/>
            <a:ext cx="8096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93F3B"/>
                </a:solidFill>
              </a:defRPr>
            </a:pPr>
            <a:r>
              <a:rPr sz="3150" b="1" i="0">
                <a:solidFill>
                  <a:srgbClr val="193F3B"/>
                </a:solidFill>
              </a:rPr>
              <a:t>Parents see the essentials up front.</a:t>
            </a:r>
          </a:p>
        </p:txBody>
      </p:sp>
      <p:sp>
        <p:nvSpPr>
          <p:cNvPr id="5" name="slide2-subtitle">
            <a:extLst xmlns:a="http://schemas.openxmlformats.org/drawingml/2006/main">
              <a:ext uri="{FF2B5EF4-FFF2-40B4-BE49-F238E27FC236}">
                <a16:creationId xmlns:a16="http://schemas.microsoft.com/office/drawing/2014/main" id="{B9745CD1-E1B7-45A9-9F36-83749C8F6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81150"/>
            <a:ext cx="685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58716C"/>
                </a:solidFill>
              </a:defRPr>
            </a:pPr>
            <a:r>
              <a:rPr sz="1575" b="0" i="0">
                <a:solidFill>
                  <a:srgbClr val="58716C"/>
                </a:solidFill>
              </a:rPr>
              <a:t>The path is home, tutor list, profile, then a simple booking form.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20B0B7-3F35-484E-9471-878F6EB85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81250"/>
            <a:ext cx="38100" cy="262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6E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lide2-col1-title">
            <a:extLst xmlns:a="http://schemas.openxmlformats.org/drawingml/2006/main">
              <a:ext uri="{FF2B5EF4-FFF2-40B4-BE49-F238E27FC236}">
                <a16:creationId xmlns:a16="http://schemas.microsoft.com/office/drawing/2014/main" id="{EB7B6510-DCFD-4B09-82DB-9711E6623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343150"/>
            <a:ext cx="3524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E5A51"/>
                </a:solidFill>
              </a:defRPr>
            </a:pPr>
            <a:r>
              <a:rPr sz="1875" b="1" i="0">
                <a:solidFill>
                  <a:srgbClr val="0E5A51"/>
                </a:solidFill>
              </a:rPr>
              <a:t>Find a fit without guessing</a:t>
            </a:r>
          </a:p>
        </p:txBody>
      </p:sp>
      <p:sp>
        <p:nvSpPr>
          <p:cNvPr id="8" name="slide2-col1-body">
            <a:extLst xmlns:a="http://schemas.openxmlformats.org/drawingml/2006/main">
              <a:ext uri="{FF2B5EF4-FFF2-40B4-BE49-F238E27FC236}">
                <a16:creationId xmlns:a16="http://schemas.microsoft.com/office/drawing/2014/main" id="{A3002F4C-270C-44B7-930E-6BA452A97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028950"/>
            <a:ext cx="34099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8716C"/>
                </a:solidFill>
              </a:defRPr>
            </a:pPr>
            <a:r>
              <a:rPr sz="1425" b="0" i="0">
                <a:solidFill>
                  <a:srgbClr val="58716C"/>
                </a:solidFill>
              </a:rPr>
              <a:t>Filter by subject, grade, and format. Each tutor card makes the hourly rate and open times easy to spot.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E90ED2-1443-456A-9EBB-9047C787C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381250"/>
            <a:ext cx="38100" cy="262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B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lide2-col2-title">
            <a:extLst xmlns:a="http://schemas.openxmlformats.org/drawingml/2006/main">
              <a:ext uri="{FF2B5EF4-FFF2-40B4-BE49-F238E27FC236}">
                <a16:creationId xmlns:a16="http://schemas.microsoft.com/office/drawing/2014/main" id="{F3D9110A-7CB7-4023-B4F7-A78F79BF6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343150"/>
            <a:ext cx="276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E5A51"/>
                </a:solidFill>
              </a:defRPr>
            </a:pPr>
            <a:r>
              <a:rPr sz="1875" b="1" i="0">
                <a:solidFill>
                  <a:srgbClr val="0E5A51"/>
                </a:solidFill>
              </a:rPr>
              <a:t>Book with the details Dana needs</a:t>
            </a:r>
          </a:p>
        </p:txBody>
      </p:sp>
      <p:sp>
        <p:nvSpPr>
          <p:cNvPr id="11" name="slide2-col2-body">
            <a:extLst xmlns:a="http://schemas.openxmlformats.org/drawingml/2006/main">
              <a:ext uri="{FF2B5EF4-FFF2-40B4-BE49-F238E27FC236}">
                <a16:creationId xmlns:a16="http://schemas.microsoft.com/office/drawing/2014/main" id="{28EBCA2E-9DE8-40A4-A0B0-C779855E0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028950"/>
            <a:ext cx="26860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8716C"/>
                </a:solidFill>
              </a:defRPr>
            </a:pPr>
            <a:r>
              <a:rPr sz="1425" b="0" i="0">
                <a:solidFill>
                  <a:srgbClr val="58716C"/>
                </a:solidFill>
              </a:rPr>
              <a:t>The form asks for a parent name and email, student first name and grade, subject, tutor, and time. No payment today - Dana invoices directly.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80474abaa349bb"/>
          <a:srcRect xmlns:a="http://schemas.openxmlformats.org/drawingml/2006/main" l="15029" t="0" r="1502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72500" y="1666875"/>
            <a:ext cx="2305050" cy="3295650"/>
          </a:xfrm>
          <a:prstGeom xmlns:a="http://schemas.openxmlformats.org/drawingml/2006/main" prst="roundRect">
            <a:avLst>
              <a:gd name="adj" fmla="val 9917"/>
            </a:avLst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B12AAD-6FC5-4B85-97D3-53613FA3A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000625"/>
            <a:ext cx="314325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CE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lide2-callout-title">
            <a:extLst xmlns:a="http://schemas.openxmlformats.org/drawingml/2006/main">
              <a:ext uri="{FF2B5EF4-FFF2-40B4-BE49-F238E27FC236}">
                <a16:creationId xmlns:a16="http://schemas.microsoft.com/office/drawing/2014/main" id="{5B632BC8-3776-4889-8357-57CEC75EB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5219700"/>
            <a:ext cx="2628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0E5A51"/>
                </a:solidFill>
              </a:defRPr>
            </a:pPr>
            <a:r>
              <a:rPr sz="1275" b="1" i="0">
                <a:solidFill>
                  <a:srgbClr val="0E5A51"/>
                </a:solidFill>
              </a:rPr>
              <a:t>Standard 60-minute sessions</a:t>
            </a:r>
          </a:p>
        </p:txBody>
      </p:sp>
      <p:sp>
        <p:nvSpPr>
          <p:cNvPr id="15" name="slide2-callout-body">
            <a:extLst xmlns:a="http://schemas.openxmlformats.org/drawingml/2006/main">
              <a:ext uri="{FF2B5EF4-FFF2-40B4-BE49-F238E27FC236}">
                <a16:creationId xmlns:a16="http://schemas.microsoft.com/office/drawing/2014/main" id="{2B5F1CC7-334B-4C8E-8782-587209DF5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5524500"/>
            <a:ext cx="2628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58716C"/>
                </a:solidFill>
              </a:defRPr>
            </a:pPr>
            <a:r>
              <a:rPr sz="1050" b="0" i="0">
                <a:solidFill>
                  <a:srgbClr val="58716C"/>
                </a:solidFill>
              </a:rPr>
              <a:t>Clear choices. No extra steps.</a:t>
            </a:r>
          </a:p>
        </p:txBody>
      </p:sp>
    </p:spTree>
    <p:extLst>
      <p:ext uri="{BB962C8B-B14F-4D97-AF65-F5344CB8AC3E}">
        <p14:creationId xmlns:p14="http://schemas.microsoft.com/office/powerpoint/2010/main" val="200510608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9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brand-abc-3">
            <a:extLst xmlns:a="http://schemas.openxmlformats.org/drawingml/2006/main">
              <a:ext uri="{FF2B5EF4-FFF2-40B4-BE49-F238E27FC236}">
                <a16:creationId xmlns:a16="http://schemas.microsoft.com/office/drawing/2014/main" id="{F8E46E61-DD98-4D71-B2AE-30FEC62DC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48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E66E58"/>
                </a:solidFill>
              </a:defRPr>
            </a:pPr>
            <a:r>
              <a:rPr sz="1275" b="1" i="0">
                <a:solidFill>
                  <a:srgbClr val="E66E58"/>
                </a:solidFill>
              </a:rPr>
              <a:t>ABC</a:t>
            </a:r>
          </a:p>
        </p:txBody>
      </p:sp>
      <p:sp>
        <p:nvSpPr>
          <p:cNvPr id="2" name="brand-tutoring-3">
            <a:extLst xmlns:a="http://schemas.openxmlformats.org/drawingml/2006/main">
              <a:ext uri="{FF2B5EF4-FFF2-40B4-BE49-F238E27FC236}">
                <a16:creationId xmlns:a16="http://schemas.microsoft.com/office/drawing/2014/main" id="{445EABAD-45AD-4406-BD93-01D393F85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048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93F3B"/>
                </a:solidFill>
              </a:defRPr>
            </a:pPr>
            <a:r>
              <a:rPr sz="1275" b="1" i="0">
                <a:solidFill>
                  <a:srgbClr val="193F3B"/>
                </a:solidFill>
              </a:rPr>
              <a:t>Tutoring</a:t>
            </a:r>
          </a:p>
        </p:txBody>
      </p:sp>
      <p:sp>
        <p:nvSpPr>
          <p:cNvPr id="3" name="slide-number-3">
            <a:extLst xmlns:a="http://schemas.openxmlformats.org/drawingml/2006/main">
              <a:ext uri="{FF2B5EF4-FFF2-40B4-BE49-F238E27FC236}">
                <a16:creationId xmlns:a16="http://schemas.microsoft.com/office/drawing/2014/main" id="{227F7789-7ECB-46D4-BEF1-CEFADA1B0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14325"/>
            <a:ext cx="1200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58716C"/>
                </a:solidFill>
              </a:defRPr>
            </a:pPr>
            <a:r>
              <a:rPr sz="900" b="0" i="0">
                <a:solidFill>
                  <a:srgbClr val="58716C"/>
                </a:solidFill>
              </a:rPr>
              <a:t>03 / 05</a:t>
            </a:r>
          </a:p>
        </p:txBody>
      </p:sp>
      <p:sp>
        <p:nvSpPr>
          <p:cNvPr id="4" name="slide3-title">
            <a:extLst xmlns:a="http://schemas.openxmlformats.org/drawingml/2006/main">
              <a:ext uri="{FF2B5EF4-FFF2-40B4-BE49-F238E27FC236}">
                <a16:creationId xmlns:a16="http://schemas.microsoft.com/office/drawing/2014/main" id="{95EF4024-CA0B-4552-8B75-DDF5B67AB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71550"/>
            <a:ext cx="4191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193F3B"/>
                </a:solidFill>
              </a:defRPr>
            </a:pPr>
            <a:r>
              <a:rPr sz="3000" b="1" i="0">
                <a:solidFill>
                  <a:srgbClr val="193F3B"/>
                </a:solidFill>
              </a:rPr>
              <a:t>Built for the phone.</a:t>
            </a:r>
          </a:p>
        </p:txBody>
      </p:sp>
      <p:sp>
        <p:nvSpPr>
          <p:cNvPr id="5" name="slide3-subtitle">
            <a:extLst xmlns:a="http://schemas.openxmlformats.org/drawingml/2006/main">
              <a:ext uri="{FF2B5EF4-FFF2-40B4-BE49-F238E27FC236}">
                <a16:creationId xmlns:a16="http://schemas.microsoft.com/office/drawing/2014/main" id="{C267C986-B012-4627-A4CC-166D917A0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3714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8716C"/>
                </a:solidFill>
              </a:defRPr>
            </a:pPr>
            <a:r>
              <a:rPr sz="1650" b="0" i="0">
                <a:solidFill>
                  <a:srgbClr val="58716C"/>
                </a:solidFill>
              </a:rPr>
              <a:t>Families can make a confident choice without needing to text for the basics.</a:t>
            </a:r>
          </a:p>
        </p:txBody>
      </p:sp>
      <p:sp>
        <p:nvSpPr>
          <p:cNvPr id="6" name="slide3-step1">
            <a:extLst xmlns:a="http://schemas.openxmlformats.org/drawingml/2006/main">
              <a:ext uri="{FF2B5EF4-FFF2-40B4-BE49-F238E27FC236}">
                <a16:creationId xmlns:a16="http://schemas.microsoft.com/office/drawing/2014/main" id="{6F5968DC-B975-4006-8789-9E7E86DDB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33750"/>
            <a:ext cx="3695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0E5A51"/>
                </a:solidFill>
              </a:defRPr>
            </a:pPr>
            <a:r>
              <a:rPr sz="1575" b="1" i="0">
                <a:solidFill>
                  <a:srgbClr val="0E5A51"/>
                </a:solidFill>
              </a:rPr>
              <a:t>1. Compare the right options</a:t>
            </a:r>
          </a:p>
        </p:txBody>
      </p:sp>
      <p:sp>
        <p:nvSpPr>
          <p:cNvPr id="7" name="slide3-step1-body">
            <a:extLst xmlns:a="http://schemas.openxmlformats.org/drawingml/2006/main">
              <a:ext uri="{FF2B5EF4-FFF2-40B4-BE49-F238E27FC236}">
                <a16:creationId xmlns:a16="http://schemas.microsoft.com/office/drawing/2014/main" id="{667BC3BF-A586-40C3-8F83-A14D1E7B8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14750"/>
            <a:ext cx="3695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8716C"/>
                </a:solidFill>
              </a:defRPr>
            </a:pPr>
            <a:r>
              <a:rPr sz="1275" b="0" i="0">
                <a:solidFill>
                  <a:srgbClr val="58716C"/>
                </a:solidFill>
              </a:rPr>
              <a:t>Filters, tutor photos, grade levels, formats, rates, bios, and available times answer the common questions up front.</a:t>
            </a:r>
          </a:p>
        </p:txBody>
      </p:sp>
      <p:sp>
        <p:nvSpPr>
          <p:cNvPr id="8" name="slide3-step2">
            <a:extLst xmlns:a="http://schemas.openxmlformats.org/drawingml/2006/main">
              <a:ext uri="{FF2B5EF4-FFF2-40B4-BE49-F238E27FC236}">
                <a16:creationId xmlns:a16="http://schemas.microsoft.com/office/drawing/2014/main" id="{A5DE2456-6651-4AD3-8AB1-DBD751470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86300"/>
            <a:ext cx="3695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0E5A51"/>
                </a:solidFill>
              </a:defRPr>
            </a:pPr>
            <a:r>
              <a:rPr sz="1575" b="1" i="0">
                <a:solidFill>
                  <a:srgbClr val="0E5A51"/>
                </a:solidFill>
              </a:rPr>
              <a:t>2. Reserve a clear 60-minute time</a:t>
            </a:r>
          </a:p>
        </p:txBody>
      </p:sp>
      <p:sp>
        <p:nvSpPr>
          <p:cNvPr id="9" name="slide3-step2-body">
            <a:extLst xmlns:a="http://schemas.openxmlformats.org/drawingml/2006/main">
              <a:ext uri="{FF2B5EF4-FFF2-40B4-BE49-F238E27FC236}">
                <a16:creationId xmlns:a16="http://schemas.microsoft.com/office/drawing/2014/main" id="{D6DA57B2-B389-41C7-85BE-4E495194B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67300"/>
            <a:ext cx="3695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8716C"/>
                </a:solidFill>
              </a:defRPr>
            </a:pPr>
            <a:r>
              <a:rPr sz="1275" b="0" i="0">
                <a:solidFill>
                  <a:srgbClr val="58716C"/>
                </a:solidFill>
              </a:rPr>
              <a:t>The confirmation names the tutor, date, and time in plain language.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60169F-A147-4A31-B9A8-B02B51468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000125"/>
            <a:ext cx="3200400" cy="489585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D8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562511d37d4b5c"/>
          <a:srcRect xmlns:a="http://schemas.openxmlformats.org/drawingml/2006/main" l="0" t="34990" r="0" b="3499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76950" y="1171575"/>
            <a:ext cx="2857500" cy="4552950"/>
          </a:xfrm>
          <a:prstGeom xmlns:a="http://schemas.openxmlformats.org/drawingml/2006/main" prst="roundRect">
            <a:avLst>
              <a:gd name="adj" fmla="val 5333"/>
            </a:avLst>
          </a:prstGeom>
        </p:spPr>
      </p:pic>
      <p:sp>
        <p:nvSpPr>
          <p:cNvPr id="12" name="slide3-callout">
            <a:extLst xmlns:a="http://schemas.openxmlformats.org/drawingml/2006/main">
              <a:ext uri="{FF2B5EF4-FFF2-40B4-BE49-F238E27FC236}">
                <a16:creationId xmlns:a16="http://schemas.microsoft.com/office/drawing/2014/main" id="{A2901724-5DD6-49A4-BCA5-8084B3532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781300"/>
            <a:ext cx="152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B74E3E"/>
                </a:solidFill>
              </a:defRPr>
            </a:pPr>
            <a:r>
              <a:rPr sz="1800" b="1" i="0">
                <a:solidFill>
                  <a:srgbClr val="B74E3E"/>
                </a:solidFill>
              </a:rPr>
              <a:t>Made for real family schedules.</a:t>
            </a:r>
          </a:p>
        </p:txBody>
      </p:sp>
      <p:sp>
        <p:nvSpPr>
          <p:cNvPr id="13" name="slide3-callout-body">
            <a:extLst xmlns:a="http://schemas.openxmlformats.org/drawingml/2006/main">
              <a:ext uri="{FF2B5EF4-FFF2-40B4-BE49-F238E27FC236}">
                <a16:creationId xmlns:a16="http://schemas.microsoft.com/office/drawing/2014/main" id="{D1B7658A-2E8D-43B1-B0F3-769DBA72D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714750"/>
            <a:ext cx="1524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8716C"/>
                </a:solidFill>
              </a:defRPr>
            </a:pPr>
            <a:r>
              <a:rPr sz="1275" b="0" i="0">
                <a:solidFill>
                  <a:srgbClr val="58716C"/>
                </a:solidFill>
              </a:rPr>
              <a:t>No accounts. No payment today. Just a thoughtful first step.</a:t>
            </a:r>
          </a:p>
        </p:txBody>
      </p:sp>
    </p:spTree>
    <p:extLst>
      <p:ext uri="{BB962C8B-B14F-4D97-AF65-F5344CB8AC3E}">
        <p14:creationId xmlns:p14="http://schemas.microsoft.com/office/powerpoint/2010/main" val="51205603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E5A5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brand-abc-4">
            <a:extLst xmlns:a="http://schemas.openxmlformats.org/drawingml/2006/main">
              <a:ext uri="{FF2B5EF4-FFF2-40B4-BE49-F238E27FC236}">
                <a16:creationId xmlns:a16="http://schemas.microsoft.com/office/drawing/2014/main" id="{58644A8F-9DB2-4F76-A4A4-3DD8A3F74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48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E66E58"/>
                </a:solidFill>
              </a:defRPr>
            </a:pPr>
            <a:r>
              <a:rPr sz="1275" b="1" i="0">
                <a:solidFill>
                  <a:srgbClr val="E66E58"/>
                </a:solidFill>
              </a:rPr>
              <a:t>ABC</a:t>
            </a:r>
          </a:p>
        </p:txBody>
      </p:sp>
      <p:sp>
        <p:nvSpPr>
          <p:cNvPr id="2" name="brand-tutoring-4">
            <a:extLst xmlns:a="http://schemas.openxmlformats.org/drawingml/2006/main">
              <a:ext uri="{FF2B5EF4-FFF2-40B4-BE49-F238E27FC236}">
                <a16:creationId xmlns:a16="http://schemas.microsoft.com/office/drawing/2014/main" id="{8720EBF0-EFE9-4117-8A0E-AD7C2F44D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048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Tutoring</a:t>
            </a:r>
          </a:p>
        </p:txBody>
      </p:sp>
      <p:sp>
        <p:nvSpPr>
          <p:cNvPr id="3" name="slide-number-4">
            <a:extLst xmlns:a="http://schemas.openxmlformats.org/drawingml/2006/main">
              <a:ext uri="{FF2B5EF4-FFF2-40B4-BE49-F238E27FC236}">
                <a16:creationId xmlns:a16="http://schemas.microsoft.com/office/drawing/2014/main" id="{B61FC76B-E2ED-4AE5-B50A-2236CF6B9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14325"/>
            <a:ext cx="1200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C7E3DB"/>
                </a:solidFill>
              </a:defRPr>
            </a:pPr>
            <a:r>
              <a:rPr sz="900" b="0" i="0">
                <a:solidFill>
                  <a:srgbClr val="C7E3DB"/>
                </a:solidFill>
              </a:rPr>
              <a:t>04 / 05</a:t>
            </a:r>
          </a:p>
        </p:txBody>
      </p:sp>
      <p:sp>
        <p:nvSpPr>
          <p:cNvPr id="4" name="slide4-title">
            <a:extLst xmlns:a="http://schemas.openxmlformats.org/drawingml/2006/main">
              <a:ext uri="{FF2B5EF4-FFF2-40B4-BE49-F238E27FC236}">
                <a16:creationId xmlns:a16="http://schemas.microsoft.com/office/drawing/2014/main" id="{5688A0BE-E70F-45A4-A4E7-DA67722D4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81075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FFFFFF"/>
                </a:solidFill>
              </a:defRPr>
            </a:pPr>
            <a:r>
              <a:rPr sz="3150" b="1" i="0">
                <a:solidFill>
                  <a:srgbClr val="FFFFFF"/>
                </a:solidFill>
              </a:rPr>
              <a:t>See interest before you decide who to hire.</a:t>
            </a:r>
          </a:p>
        </p:txBody>
      </p:sp>
      <p:sp>
        <p:nvSpPr>
          <p:cNvPr id="5" name="slide4-subtitle">
            <a:extLst xmlns:a="http://schemas.openxmlformats.org/drawingml/2006/main">
              <a:ext uri="{FF2B5EF4-FFF2-40B4-BE49-F238E27FC236}">
                <a16:creationId xmlns:a16="http://schemas.microsoft.com/office/drawing/2014/main" id="{29F0BDC5-A281-43CC-AFA1-14741844B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09725"/>
            <a:ext cx="838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C7E3DB"/>
                </a:solidFill>
              </a:defRPr>
            </a:pPr>
            <a:r>
              <a:rPr sz="1575" b="0" i="0">
                <a:solidFill>
                  <a:srgbClr val="C7E3DB"/>
                </a:solidFill>
              </a:rPr>
              <a:t>The reporting focuses on real decisions, without recording parent or student details.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59CB51-5BAD-4FC3-AEB2-FD7FE98A3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33650"/>
            <a:ext cx="28575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6E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lide4-col1-title">
            <a:extLst xmlns:a="http://schemas.openxmlformats.org/drawingml/2006/main">
              <a:ext uri="{FF2B5EF4-FFF2-40B4-BE49-F238E27FC236}">
                <a16:creationId xmlns:a16="http://schemas.microsoft.com/office/drawing/2014/main" id="{62219795-4626-4400-9050-1E2677B20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95550"/>
            <a:ext cx="2609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FFFFF"/>
                </a:solidFill>
              </a:defRPr>
            </a:pPr>
            <a:r>
              <a:rPr sz="1800" b="1" i="0">
                <a:solidFill>
                  <a:srgbClr val="FFFFFF"/>
                </a:solidFill>
              </a:rPr>
              <a:t>Which tutors attract attention?</a:t>
            </a:r>
          </a:p>
        </p:txBody>
      </p:sp>
      <p:sp>
        <p:nvSpPr>
          <p:cNvPr id="8" name="slide4-col1-body">
            <a:extLst xmlns:a="http://schemas.openxmlformats.org/drawingml/2006/main">
              <a:ext uri="{FF2B5EF4-FFF2-40B4-BE49-F238E27FC236}">
                <a16:creationId xmlns:a16="http://schemas.microsoft.com/office/drawing/2014/main" id="{7DB5B931-D36E-4383-8DE2-2CF25A43F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00400"/>
            <a:ext cx="2476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C7E3DB"/>
                </a:solidFill>
              </a:defRPr>
            </a:pPr>
            <a:r>
              <a:rPr sz="1350" b="0" i="0">
                <a:solidFill>
                  <a:srgbClr val="C7E3DB"/>
                </a:solidFill>
              </a:rPr>
              <a:t>Tutor profile views reveal which tutors and areas families are considering.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59DDEB-C3E2-43FE-ADC3-97D9E8E11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533650"/>
            <a:ext cx="28575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B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lide4-col2-title">
            <a:extLst xmlns:a="http://schemas.openxmlformats.org/drawingml/2006/main">
              <a:ext uri="{FF2B5EF4-FFF2-40B4-BE49-F238E27FC236}">
                <a16:creationId xmlns:a16="http://schemas.microsoft.com/office/drawing/2014/main" id="{C5AD97F3-E8FC-403D-B1E6-4FB740550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495550"/>
            <a:ext cx="2609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FFFFF"/>
                </a:solidFill>
              </a:defRPr>
            </a:pPr>
            <a:r>
              <a:rPr sz="1800" b="1" i="0">
                <a:solidFill>
                  <a:srgbClr val="FFFFFF"/>
                </a:solidFill>
              </a:rPr>
              <a:t>Which subjects are in demand?</a:t>
            </a:r>
          </a:p>
        </p:txBody>
      </p:sp>
      <p:sp>
        <p:nvSpPr>
          <p:cNvPr id="11" name="slide4-col2-body">
            <a:extLst xmlns:a="http://schemas.openxmlformats.org/drawingml/2006/main">
              <a:ext uri="{FF2B5EF4-FFF2-40B4-BE49-F238E27FC236}">
                <a16:creationId xmlns:a16="http://schemas.microsoft.com/office/drawing/2014/main" id="{C0F7923D-FF26-4274-8FCC-3673A2C63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200400"/>
            <a:ext cx="2476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C7E3DB"/>
                </a:solidFill>
              </a:defRPr>
            </a:pPr>
            <a:r>
              <a:rPr sz="1350" b="0" i="0">
                <a:solidFill>
                  <a:srgbClr val="C7E3DB"/>
                </a:solidFill>
              </a:rPr>
              <a:t>Filters and completed demo bookings point to the subjects families seek most.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11DE12-DB4E-46A0-B055-95F9C772F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533650"/>
            <a:ext cx="28575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6E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lide4-col3-title">
            <a:extLst xmlns:a="http://schemas.openxmlformats.org/drawingml/2006/main">
              <a:ext uri="{FF2B5EF4-FFF2-40B4-BE49-F238E27FC236}">
                <a16:creationId xmlns:a16="http://schemas.microsoft.com/office/drawing/2014/main" id="{39526F55-28C1-4AD6-8363-65684271C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49555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FFFFF"/>
                </a:solidFill>
              </a:defRPr>
            </a:pPr>
            <a:r>
              <a:rPr sz="1800" b="1" i="0">
                <a:solidFill>
                  <a:srgbClr val="FFFFFF"/>
                </a:solidFill>
              </a:rPr>
              <a:t>Is Facebook bringing families in?</a:t>
            </a:r>
          </a:p>
        </p:txBody>
      </p:sp>
      <p:sp>
        <p:nvSpPr>
          <p:cNvPr id="14" name="slide4-col3-body">
            <a:extLst xmlns:a="http://schemas.openxmlformats.org/drawingml/2006/main">
              <a:ext uri="{FF2B5EF4-FFF2-40B4-BE49-F238E27FC236}">
                <a16:creationId xmlns:a16="http://schemas.microsoft.com/office/drawing/2014/main" id="{A199534C-DB41-48D0-985D-42FA94BE4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200400"/>
            <a:ext cx="266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C7E3DB"/>
                </a:solidFill>
              </a:defRPr>
            </a:pPr>
            <a:r>
              <a:rPr sz="1350" b="0" i="0">
                <a:solidFill>
                  <a:srgbClr val="C7E3DB"/>
                </a:solidFill>
              </a:rPr>
              <a:t>Facebook-tagged links make it possible to compare group visits with bookings.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D32AF3-B430-400F-BAB9-C852B0258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86350"/>
            <a:ext cx="10629900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0B4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slide4-proof">
            <a:extLst xmlns:a="http://schemas.openxmlformats.org/drawingml/2006/main">
              <a:ext uri="{FF2B5EF4-FFF2-40B4-BE49-F238E27FC236}">
                <a16:creationId xmlns:a16="http://schemas.microsoft.com/office/drawing/2014/main" id="{5A076964-926E-4E18-B1B0-1921CB929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248275"/>
            <a:ext cx="10191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FFFFFF"/>
                </a:solidFill>
              </a:defRPr>
            </a:pPr>
            <a:r>
              <a:rPr sz="1425" b="1" i="0">
                <a:solidFill>
                  <a:srgbClr val="FFFFFF"/>
                </a:solidFill>
              </a:rPr>
              <a:t>A four-journey phone simulation demonstrates the reporting path.</a:t>
            </a:r>
          </a:p>
        </p:txBody>
      </p:sp>
      <p:sp>
        <p:nvSpPr>
          <p:cNvPr id="17" name="slide4-proof-detail">
            <a:extLst xmlns:a="http://schemas.openxmlformats.org/drawingml/2006/main">
              <a:ext uri="{FF2B5EF4-FFF2-40B4-BE49-F238E27FC236}">
                <a16:creationId xmlns:a16="http://schemas.microsoft.com/office/drawing/2014/main" id="{1DDE38ED-E032-49DD-9425-8D075CC1E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553075"/>
            <a:ext cx="10191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C7E3DB"/>
                </a:solidFill>
              </a:defRPr>
            </a:pPr>
            <a:r>
              <a:rPr sz="1050" b="0" i="0">
                <a:solidFill>
                  <a:srgbClr val="C7E3DB"/>
                </a:solidFill>
              </a:rPr>
              <a:t>Practice traffic is labeled separately, so it never clouds future live reporting.</a:t>
            </a:r>
          </a:p>
        </p:txBody>
      </p:sp>
    </p:spTree>
    <p:extLst>
      <p:ext uri="{BB962C8B-B14F-4D97-AF65-F5344CB8AC3E}">
        <p14:creationId xmlns:p14="http://schemas.microsoft.com/office/powerpoint/2010/main" val="170367592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9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brand-abc-5">
            <a:extLst xmlns:a="http://schemas.openxmlformats.org/drawingml/2006/main">
              <a:ext uri="{FF2B5EF4-FFF2-40B4-BE49-F238E27FC236}">
                <a16:creationId xmlns:a16="http://schemas.microsoft.com/office/drawing/2014/main" id="{55A7DFC8-F0CA-49A0-8931-10245A6FE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48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E66E58"/>
                </a:solidFill>
              </a:defRPr>
            </a:pPr>
            <a:r>
              <a:rPr sz="1275" b="1" i="0">
                <a:solidFill>
                  <a:srgbClr val="E66E58"/>
                </a:solidFill>
              </a:rPr>
              <a:t>ABC</a:t>
            </a:r>
          </a:p>
        </p:txBody>
      </p:sp>
      <p:sp>
        <p:nvSpPr>
          <p:cNvPr id="2" name="brand-tutoring-5">
            <a:extLst xmlns:a="http://schemas.openxmlformats.org/drawingml/2006/main">
              <a:ext uri="{FF2B5EF4-FFF2-40B4-BE49-F238E27FC236}">
                <a16:creationId xmlns:a16="http://schemas.microsoft.com/office/drawing/2014/main" id="{93E51A4B-E3D2-4670-8E43-B3B7B0C75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048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93F3B"/>
                </a:solidFill>
              </a:defRPr>
            </a:pPr>
            <a:r>
              <a:rPr sz="1275" b="1" i="0">
                <a:solidFill>
                  <a:srgbClr val="193F3B"/>
                </a:solidFill>
              </a:rPr>
              <a:t>Tutoring</a:t>
            </a:r>
          </a:p>
        </p:txBody>
      </p:sp>
      <p:sp>
        <p:nvSpPr>
          <p:cNvPr id="3" name="slide-number-5">
            <a:extLst xmlns:a="http://schemas.openxmlformats.org/drawingml/2006/main">
              <a:ext uri="{FF2B5EF4-FFF2-40B4-BE49-F238E27FC236}">
                <a16:creationId xmlns:a16="http://schemas.microsoft.com/office/drawing/2014/main" id="{5006AD66-BD1B-492E-99E7-0B9614876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14325"/>
            <a:ext cx="1200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58716C"/>
                </a:solidFill>
              </a:defRPr>
            </a:pPr>
            <a:r>
              <a:rPr sz="900" b="0" i="0">
                <a:solidFill>
                  <a:srgbClr val="58716C"/>
                </a:solidFill>
              </a:rPr>
              <a:t>05 / 05</a:t>
            </a:r>
          </a:p>
        </p:txBody>
      </p:sp>
      <p:sp>
        <p:nvSpPr>
          <p:cNvPr id="4" name="slide5-title">
            <a:extLst xmlns:a="http://schemas.openxmlformats.org/drawingml/2006/main">
              <a:ext uri="{FF2B5EF4-FFF2-40B4-BE49-F238E27FC236}">
                <a16:creationId xmlns:a16="http://schemas.microsoft.com/office/drawing/2014/main" id="{67309390-CBFB-4741-8968-8CBF37FBC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7155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93F3B"/>
                </a:solidFill>
              </a:defRPr>
            </a:pPr>
            <a:r>
              <a:rPr sz="3150" b="1" i="0">
                <a:solidFill>
                  <a:srgbClr val="193F3B"/>
                </a:solidFill>
              </a:rPr>
              <a:t>One private system makes booking reliable.</a:t>
            </a:r>
          </a:p>
        </p:txBody>
      </p:sp>
      <p:sp>
        <p:nvSpPr>
          <p:cNvPr id="5" name="slide5-subtitle">
            <a:extLst xmlns:a="http://schemas.openxmlformats.org/drawingml/2006/main">
              <a:ext uri="{FF2B5EF4-FFF2-40B4-BE49-F238E27FC236}">
                <a16:creationId xmlns:a16="http://schemas.microsoft.com/office/drawing/2014/main" id="{52E577DA-52CE-42D1-86FB-A10F26D1C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81150"/>
            <a:ext cx="685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58716C"/>
                </a:solidFill>
              </a:defRPr>
            </a:pPr>
            <a:r>
              <a:rPr sz="1575" b="0" i="0">
                <a:solidFill>
                  <a:srgbClr val="58716C"/>
                </a:solidFill>
              </a:rPr>
              <a:t>That is the step that turns this useful demo into a reliable service.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B88EFB-B54D-45B7-9AB1-9E83D4F75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76500"/>
            <a:ext cx="28575" cy="236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6E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lide5-col1-title">
            <a:extLst xmlns:a="http://schemas.openxmlformats.org/drawingml/2006/main">
              <a:ext uri="{FF2B5EF4-FFF2-40B4-BE49-F238E27FC236}">
                <a16:creationId xmlns:a16="http://schemas.microsoft.com/office/drawing/2014/main" id="{9C00EC8A-6585-465E-840A-234B7CA02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5745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E5A51"/>
                </a:solidFill>
              </a:defRPr>
            </a:pPr>
            <a:r>
              <a:rPr sz="1875" b="1" i="0">
                <a:solidFill>
                  <a:srgbClr val="0E5A51"/>
                </a:solidFill>
              </a:rPr>
              <a:t>Keep family details private</a:t>
            </a:r>
          </a:p>
        </p:txBody>
      </p:sp>
      <p:sp>
        <p:nvSpPr>
          <p:cNvPr id="8" name="slide5-col1-body">
            <a:extLst xmlns:a="http://schemas.openxmlformats.org/drawingml/2006/main">
              <a:ext uri="{FF2B5EF4-FFF2-40B4-BE49-F238E27FC236}">
                <a16:creationId xmlns:a16="http://schemas.microsoft.com/office/drawing/2014/main" id="{F5B1094E-7BEC-4D27-ACDB-D131AF750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81350"/>
            <a:ext cx="27146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8716C"/>
                </a:solidFill>
              </a:defRPr>
            </a:pPr>
            <a:r>
              <a:rPr sz="1425" b="0" i="0">
                <a:solidFill>
                  <a:srgbClr val="58716C"/>
                </a:solidFill>
              </a:rPr>
              <a:t>Store contact and student details in the private booking system, not in the website analytics.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F1F336-D6D5-4481-A445-D5025C432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476500"/>
            <a:ext cx="28575" cy="236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B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lide5-col2-title">
            <a:extLst xmlns:a="http://schemas.openxmlformats.org/drawingml/2006/main">
              <a:ext uri="{FF2B5EF4-FFF2-40B4-BE49-F238E27FC236}">
                <a16:creationId xmlns:a16="http://schemas.microsoft.com/office/drawing/2014/main" id="{891E17B4-21DC-4C09-A577-3DF655213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457450"/>
            <a:ext cx="2781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E5A51"/>
                </a:solidFill>
              </a:defRPr>
            </a:pPr>
            <a:r>
              <a:rPr sz="1875" b="1" i="0">
                <a:solidFill>
                  <a:srgbClr val="0E5A51"/>
                </a:solidFill>
              </a:rPr>
              <a:t>Keep availability shared</a:t>
            </a:r>
          </a:p>
        </p:txBody>
      </p:sp>
      <p:sp>
        <p:nvSpPr>
          <p:cNvPr id="11" name="slide5-col2-body">
            <a:extLst xmlns:a="http://schemas.openxmlformats.org/drawingml/2006/main">
              <a:ext uri="{FF2B5EF4-FFF2-40B4-BE49-F238E27FC236}">
                <a16:creationId xmlns:a16="http://schemas.microsoft.com/office/drawing/2014/main" id="{D8FF8202-6D2A-46CF-8B35-C71CED230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181350"/>
            <a:ext cx="2571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8716C"/>
                </a:solidFill>
              </a:defRPr>
            </a:pPr>
            <a:r>
              <a:rPr sz="1425" b="0" i="0">
                <a:solidFill>
                  <a:srgbClr val="58716C"/>
                </a:solidFill>
              </a:rPr>
              <a:t>Reserve a time for everyone at once, so two families cannot choose the same session.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19FEA8-9143-4462-8721-BF74A7DFC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476500"/>
            <a:ext cx="28575" cy="236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6E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lide5-col3-title">
            <a:extLst xmlns:a="http://schemas.openxmlformats.org/drawingml/2006/main">
              <a:ext uri="{FF2B5EF4-FFF2-40B4-BE49-F238E27FC236}">
                <a16:creationId xmlns:a16="http://schemas.microsoft.com/office/drawing/2014/main" id="{7AE953E1-5779-4D7D-8865-12F202775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45745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E5A51"/>
                </a:solidFill>
              </a:defRPr>
            </a:pPr>
            <a:r>
              <a:rPr sz="1875" b="1" i="0">
                <a:solidFill>
                  <a:srgbClr val="0E5A51"/>
                </a:solidFill>
              </a:rPr>
              <a:t>Let Dana know right away</a:t>
            </a:r>
          </a:p>
        </p:txBody>
      </p:sp>
      <p:sp>
        <p:nvSpPr>
          <p:cNvPr id="14" name="slide5-col3-body">
            <a:extLst xmlns:a="http://schemas.openxmlformats.org/drawingml/2006/main">
              <a:ext uri="{FF2B5EF4-FFF2-40B4-BE49-F238E27FC236}">
                <a16:creationId xmlns:a16="http://schemas.microsoft.com/office/drawing/2014/main" id="{280ABD0B-AC95-4626-A2D5-468778DC6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181350"/>
            <a:ext cx="2952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8716C"/>
                </a:solidFill>
              </a:defRPr>
            </a:pPr>
            <a:r>
              <a:rPr sz="1425" b="0" i="0">
                <a:solidFill>
                  <a:srgbClr val="58716C"/>
                </a:solidFill>
              </a:rPr>
              <a:t>Send Dana an email or text only after the time is securely reserved. Staff tools to manage tutors can follow.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E095A9-ACD0-478D-B9F2-8D4EAFBF7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57800"/>
            <a:ext cx="10629900" cy="628650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DCE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slide5-boundary">
            <a:extLst xmlns:a="http://schemas.openxmlformats.org/drawingml/2006/main">
              <a:ext uri="{FF2B5EF4-FFF2-40B4-BE49-F238E27FC236}">
                <a16:creationId xmlns:a16="http://schemas.microsoft.com/office/drawing/2014/main" id="{DB9323B1-D191-4B7F-8A32-82EF958BE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448300"/>
            <a:ext cx="100584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0E5A51"/>
                </a:solidFill>
              </a:defRPr>
            </a:pPr>
            <a:r>
              <a:rPr sz="1350" b="1" i="0">
                <a:solidFill>
                  <a:srgbClr val="0E5A51"/>
                </a:solidFill>
              </a:rPr>
              <a:t>For now, the demo keeps entered details private and stores only a selected slot on that browser.</a:t>
            </a:r>
          </a:p>
        </p:txBody>
      </p:sp>
    </p:spTree>
    <p:extLst>
      <p:ext uri="{BB962C8B-B14F-4D97-AF65-F5344CB8AC3E}">
        <p14:creationId xmlns:p14="http://schemas.microsoft.com/office/powerpoint/2010/main" val="143184623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2026-09-03T07:50:30.8410000Z</dcterms:created>
  <dcterms:modified xsi:type="dcterms:W3CDTF">2026-09-03T07:50:30.8410000Z</dcterms:modified>
</coreProperties>
</file>